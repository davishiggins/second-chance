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SecondChance predicts how long a shelter animal will wait for adoption, so that scarce staff attention goes to the animals who need it most. Nine years of Austin Animal Center records, 136,898 episodes, evaluated on 20,165 animals the model never saw. I want to show you four things in five minutes, and the second one is the one I would defend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The binding constraint at a shelter is not space, it is attention. Someone has to photograph an animal well, recruit a foster, notice that a dog has been in the same run since February. That is currently allocated by whoever notices. So the question is: on the day an animal arrives, how long will it wait? Three predictions, all made from what is knowable at the intake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Austin publishes intakes and outcomes as two separate event logs with no episode key, and nine percent of animals come through more than once. So the first real job was sequence alignment inside each animal, with every join decision counted. 99.1 percent close cleanly, no negative durations, no species mismatches. And the check I would keep if I could only keep one: train the whole model on shuffled labels. It comes back at 0.50, so nothing is leaking.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 This is the finding I would defend hardest. Fifty-one percent of exits from this shelter are not adoptions: transfers to rescue partners, returns to owner. An animal transferred on day three cannot be adopted from Austin on day thirty. It has left the risk set. Treat it as ordinary censoring, which is what the field does, and you overstate 30-day adoption by 23.7 points, 72 percent relative. By one year the standard estimator says 98.8 percent of animals are adopted. The correct figure is 48.3. That is not a rounding error, it is a different shelter.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 Four targets, four models, strictly temporal split. 0.803 AUC on 30-day adoption, 0.765 on long stay, and an expected calibration error of 0.023, which matters more than the AUC because the number on the screen is read as a percentage. The product metric is the last one: the top 50 of the queue contains 4.2 times as many true long-stay animals as a random 50. Forty-eight percent against a base rate of eleven point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 Austin records breed as free text: 2,736 distinct strings. Splitting on their own convention collapses that to 254 atomic tokens, which a language model labels once, at temperature zero, for size, weight, coat, energy and the breed labels that carry housing consequences. It resolves 100 percent of dog and cat strings. And the result splits. On long-stay risk it beats a hand-written keyword baseline by 0.012 AUC, decisively. On 30-day adoption it beats it by 0.0003, which is nothing. Reporting only the flattering half would have been easy. This version tells you which question the extra machinery is worth deploying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3:25. Here is what I did not expect. The model was frozen on 2018 data and then met March 2020. Its ability to rank animals barely moved: 0.778 before, 0.789 after. What broke was calibration. In July 2020 it was predicting an adoption rate 7.6 points above what actually happened. Discrimination and calibration fail separately, and here calibration failed first and harder. If you monitor AUC alone, you see a healthy model for months while the numbers on the shelter's screen quietly stop meaning anything. Input drift caught it a full quarter earlier, which is the whole argument for watching inputs as well as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 Quickly, the system. Four public APIs ingested on a schedule into an append-only S3 landing zone that keeps every raw response. Redshift Serverless for the joins. Bedrock for any breed token we have not seen. SageMaker for training, with every model registered against its data cutoff. An API where every single response carries the model version, the data freshness and the use policy. And a weekly monitoring job behind six alarms. Thirty-four dollars a month, because the endpoint is transient rather than persistent.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 One thing I want to be explicit about. Dogs carrying a bully-type breed label wait significantly longer, and the model is both worse and under-confident for them. Because the queue routes help toward low scores, that error puts them higher, which is the safer direction here, but it is still an error and it is in the model card. The same machinery could be pointed the other way. The paper that founded this literature in 2002 framed it as adoption versus euthanasia. So the use policy is in every API response, and there is no screen anywhere that surfaces an animal for removal. A low score is a request for more help, not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 To close. Four findings I would defend: the estimator error, calibration failing before discrimination, the language model earning its place on one target and not the other, and three classes of feature that will silently break a drift detector. Three things I would not claim: I have no behavioural data, which is where the remaining signal is; breed is a staff guess; and I can show the queue finds the right animals but not that acting on it changes what happens to them. That last one needs a prospective study, and it is what I would do next.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8046720" y="822960"/>
            <a:ext cx="5120640" cy="5120640"/>
          </a:xfrm>
          <a:prstGeom prst="blockArc">
            <a:avLst>
              <a:gd name="adj1" fmla="val 0"/>
              <a:gd name="adj2" fmla="val 0"/>
            </a:avLst>
          </a:prstGeom>
          <a:solidFill>
            <a:srgbClr val="14A67C">
              <a:alpha val="28000"/>
            </a:srgbClr>
          </a:solidFill>
          <a:ln w="12700">
            <a:solidFill>
              <a:srgbClr val="14A67C"/>
            </a:solidFill>
            <a:prstDash val="solid"/>
          </a:ln>
        </p:spPr>
      </p:sp>
      <p:sp>
        <p:nvSpPr>
          <p:cNvPr id="3" name="Text 1"/>
          <p:cNvSpPr/>
          <p:nvPr/>
        </p:nvSpPr>
        <p:spPr>
          <a:xfrm>
            <a:off x="658368" y="1874520"/>
            <a:ext cx="7680960" cy="91440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SecondChance</a:t>
            </a:r>
            <a:endParaRPr lang="en-US" sz="5200" dirty="0"/>
          </a:p>
        </p:txBody>
      </p:sp>
      <p:sp>
        <p:nvSpPr>
          <p:cNvPr id="4" name="Text 2"/>
          <p:cNvSpPr/>
          <p:nvPr/>
        </p:nvSpPr>
        <p:spPr>
          <a:xfrm>
            <a:off x="658368" y="2788920"/>
            <a:ext cx="7498080" cy="868680"/>
          </a:xfrm>
          <a:prstGeom prst="rect">
            <a:avLst/>
          </a:prstGeom>
          <a:noFill/>
          <a:ln/>
        </p:spPr>
        <p:txBody>
          <a:bodyPr wrap="square" lIns="0" tIns="0" rIns="0" bIns="0" rtlCol="0" anchor="ctr"/>
          <a:lstStyle/>
          <a:p>
            <a:pPr indent="0" marL="0">
              <a:lnSpc>
                <a:spcPts val="2600"/>
              </a:lnSpc>
              <a:buNone/>
            </a:pPr>
            <a:r>
              <a:rPr lang="en-US" sz="1800" dirty="0">
                <a:solidFill>
                  <a:srgbClr val="9FD9C4"/>
                </a:solidFill>
                <a:latin typeface="Calibri" pitchFamily="34" charset="0"/>
                <a:ea typeface="Calibri" pitchFamily="34" charset="-122"/>
                <a:cs typeface="Calibri" pitchFamily="34" charset="-120"/>
              </a:rPr>
              <a:t>Competing-risk survival forecasting of shelter adoption,</a:t>
            </a:r>
            <a:endParaRPr lang="en-US" sz="1800" dirty="0"/>
          </a:p>
          <a:p>
            <a:pPr indent="0" marL="0">
              <a:lnSpc>
                <a:spcPts val="2600"/>
              </a:lnSpc>
              <a:buNone/>
            </a:pPr>
            <a:r>
              <a:rPr lang="en-US" sz="1800" dirty="0">
                <a:solidFill>
                  <a:srgbClr val="9FD9C4"/>
                </a:solidFill>
                <a:latin typeface="Calibri" pitchFamily="34" charset="0"/>
                <a:ea typeface="Calibri" pitchFamily="34" charset="-122"/>
                <a:cs typeface="Calibri" pitchFamily="34" charset="-120"/>
              </a:rPr>
              <a:t>with calibration and drift monitoring</a:t>
            </a:r>
            <a:endParaRPr lang="en-US" sz="1800" dirty="0"/>
          </a:p>
        </p:txBody>
      </p:sp>
      <p:sp>
        <p:nvSpPr>
          <p:cNvPr id="5" name="Shape 3"/>
          <p:cNvSpPr/>
          <p:nvPr/>
        </p:nvSpPr>
        <p:spPr>
          <a:xfrm>
            <a:off x="658368" y="3886200"/>
            <a:ext cx="1828800" cy="0"/>
          </a:xfrm>
          <a:prstGeom prst="line">
            <a:avLst/>
          </a:prstGeom>
          <a:noFill/>
          <a:ln w="31750">
            <a:solidFill>
              <a:srgbClr val="14A67C"/>
            </a:solidFill>
            <a:prstDash val="solid"/>
          </a:ln>
        </p:spPr>
      </p:sp>
      <p:sp>
        <p:nvSpPr>
          <p:cNvPr id="6" name="Text 4"/>
          <p:cNvSpPr/>
          <p:nvPr/>
        </p:nvSpPr>
        <p:spPr>
          <a:xfrm>
            <a:off x="658368" y="4114800"/>
            <a:ext cx="777240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Davis Higgins</a:t>
            </a:r>
            <a:pPr indent="0" marL="0">
              <a:buNone/>
            </a:pPr>
            <a:r>
              <a:rPr lang="en-US" sz="1350" dirty="0">
                <a:solidFill>
                  <a:srgbClr val="8FA9C0"/>
                </a:solidFill>
                <a:latin typeface="Calibri" pitchFamily="34" charset="0"/>
                <a:ea typeface="Calibri" pitchFamily="34" charset="-122"/>
                <a:cs typeface="Calibri" pitchFamily="34" charset="-120"/>
              </a:rPr>
              <a:t>   ·   DTSC 3601, UNC Charlotte   ·   29 September 2026</a:t>
            </a:r>
            <a:endParaRPr lang="en-US" sz="1350" dirty="0"/>
          </a:p>
        </p:txBody>
      </p:sp>
      <p:sp>
        <p:nvSpPr>
          <p:cNvPr id="7" name="Text 5"/>
          <p:cNvSpPr/>
          <p:nvPr/>
        </p:nvSpPr>
        <p:spPr>
          <a:xfrm>
            <a:off x="658368" y="4709160"/>
            <a:ext cx="7772400" cy="365760"/>
          </a:xfrm>
          <a:prstGeom prst="rect">
            <a:avLst/>
          </a:prstGeom>
          <a:noFill/>
          <a:ln/>
        </p:spPr>
        <p:txBody>
          <a:bodyPr wrap="square" lIns="0" tIns="0" rIns="0" bIns="0" rtlCol="0" anchor="ctr"/>
          <a:lstStyle/>
          <a:p>
            <a:pPr indent="0" marL="0">
              <a:buNone/>
            </a:pPr>
            <a:r>
              <a:rPr lang="en-US" sz="1200" i="1" dirty="0">
                <a:solidFill>
                  <a:srgbClr val="6E8AA3"/>
                </a:solidFill>
                <a:latin typeface="Calibri" pitchFamily="34" charset="0"/>
                <a:ea typeface="Calibri" pitchFamily="34" charset="-122"/>
                <a:cs typeface="Calibri" pitchFamily="34" charset="-120"/>
              </a:rPr>
              <a:t>136,898 shelter episodes  ·  nine years of Austin Animal Center records  ·  20,165 held out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658368" y="384048"/>
            <a:ext cx="10844784" cy="566928"/>
          </a:xfrm>
          <a:prstGeom prst="rect">
            <a:avLst/>
          </a:prstGeom>
          <a:noFill/>
          <a:ln/>
        </p:spPr>
        <p:txBody>
          <a:bodyPr wrap="square" lIns="0" tIns="0" rIns="0" bIns="0" rtlCol="0" anchor="t"/>
          <a:lstStyle/>
          <a:p>
            <a:pPr indent="0" marL="0">
              <a:buNone/>
            </a:pPr>
            <a:r>
              <a:rPr lang="en-US" sz="3400" b="1" dirty="0">
                <a:solidFill>
                  <a:srgbClr val="0F1B2A"/>
                </a:solidFill>
                <a:latin typeface="Cambria" pitchFamily="34" charset="0"/>
                <a:ea typeface="Cambria" pitchFamily="34" charset="-122"/>
                <a:cs typeface="Cambria" pitchFamily="34" charset="-120"/>
              </a:rPr>
              <a:t>Shelters run out of attention, not kennels</a:t>
            </a:r>
            <a:endParaRPr lang="en-US" sz="3400" dirty="0"/>
          </a:p>
        </p:txBody>
      </p:sp>
      <p:sp>
        <p:nvSpPr>
          <p:cNvPr id="3" name="Text 1"/>
          <p:cNvSpPr/>
          <p:nvPr/>
        </p:nvSpPr>
        <p:spPr>
          <a:xfrm>
            <a:off x="658368" y="1042416"/>
            <a:ext cx="10844784" cy="384048"/>
          </a:xfrm>
          <a:prstGeom prst="rect">
            <a:avLst/>
          </a:prstGeom>
          <a:noFill/>
          <a:ln/>
        </p:spPr>
        <p:txBody>
          <a:bodyPr wrap="square" lIns="0" tIns="0" rIns="0" bIns="0" rtlCol="0" anchor="ctr"/>
          <a:lstStyle/>
          <a:p>
            <a:pPr indent="0" marL="0">
              <a:buNone/>
            </a:pPr>
            <a:r>
              <a:rPr lang="en-US" sz="1450" dirty="0">
                <a:solidFill>
                  <a:srgbClr val="4A5E72"/>
                </a:solidFill>
                <a:latin typeface="Calibri" pitchFamily="34" charset="0"/>
                <a:ea typeface="Calibri" pitchFamily="34" charset="-122"/>
                <a:cs typeface="Calibri" pitchFamily="34" charset="-120"/>
              </a:rPr>
              <a:t>Photography, foster recruitment, behaviour support and outreach are allocated by whoever happens to notice.</a:t>
            </a:r>
            <a:endParaRPr lang="en-US" sz="1450" dirty="0"/>
          </a:p>
        </p:txBody>
      </p:sp>
      <p:sp>
        <p:nvSpPr>
          <p:cNvPr id="4" name="Shape 2"/>
          <p:cNvSpPr/>
          <p:nvPr/>
        </p:nvSpPr>
        <p:spPr>
          <a:xfrm>
            <a:off x="658368" y="1828800"/>
            <a:ext cx="5029200" cy="3200400"/>
          </a:xfrm>
          <a:prstGeom prst="roundRect">
            <a:avLst>
              <a:gd name="adj" fmla="val 1714"/>
            </a:avLst>
          </a:prstGeom>
          <a:solidFill>
            <a:srgbClr val="FFFFFF"/>
          </a:solidFill>
          <a:ln w="12700">
            <a:solidFill>
              <a:srgbClr val="DCE3E9"/>
            </a:solidFill>
            <a:prstDash val="solid"/>
          </a:ln>
          <a:effectLst>
            <a:outerShdw sx="100000" sy="100000" kx="0" ky="0" algn="bl" rotWithShape="0" blurRad="101600" dist="12700" dir="5400000">
              <a:srgbClr val="9AA9B8">
                <a:alpha val="16000"/>
              </a:srgbClr>
            </a:outerShdw>
          </a:effectLst>
        </p:spPr>
      </p:sp>
      <p:sp>
        <p:nvSpPr>
          <p:cNvPr id="5" name="Text 3"/>
          <p:cNvSpPr/>
          <p:nvPr/>
        </p:nvSpPr>
        <p:spPr>
          <a:xfrm>
            <a:off x="1042416" y="2148840"/>
            <a:ext cx="4206240" cy="713232"/>
          </a:xfrm>
          <a:prstGeom prst="rect">
            <a:avLst/>
          </a:prstGeom>
          <a:noFill/>
          <a:ln/>
        </p:spPr>
        <p:txBody>
          <a:bodyPr wrap="square" lIns="0" tIns="0" rIns="0" bIns="0" rtlCol="0" anchor="ctr"/>
          <a:lstStyle/>
          <a:p>
            <a:pPr algn="l" indent="0" marL="0">
              <a:buNone/>
            </a:pPr>
            <a:r>
              <a:rPr lang="en-US" sz="4600" b="1" dirty="0">
                <a:solidFill>
                  <a:srgbClr val="102A43"/>
                </a:solidFill>
                <a:latin typeface="Cambria" pitchFamily="34" charset="0"/>
                <a:ea typeface="Cambria" pitchFamily="34" charset="-122"/>
                <a:cs typeface="Cambria" pitchFamily="34" charset="-120"/>
              </a:rPr>
              <a:t>16,000</a:t>
            </a:r>
            <a:endParaRPr lang="en-US" sz="4600" dirty="0"/>
          </a:p>
        </p:txBody>
      </p:sp>
      <p:sp>
        <p:nvSpPr>
          <p:cNvPr id="6" name="Text 4"/>
          <p:cNvSpPr/>
          <p:nvPr/>
        </p:nvSpPr>
        <p:spPr>
          <a:xfrm>
            <a:off x="1042416" y="2843784"/>
            <a:ext cx="4206240" cy="566928"/>
          </a:xfrm>
          <a:prstGeom prst="rect">
            <a:avLst/>
          </a:prstGeom>
          <a:noFill/>
          <a:ln/>
        </p:spPr>
        <p:txBody>
          <a:bodyPr wrap="square" lIns="0" tIns="0" rIns="0" bIns="0" rtlCol="0" anchor="ctr"/>
          <a:lstStyle/>
          <a:p>
            <a:pPr algn="l" indent="0" marL="0">
              <a:buNone/>
            </a:pPr>
            <a:r>
              <a:rPr lang="en-US" sz="1200" dirty="0">
                <a:solidFill>
                  <a:srgbClr val="4A5E72"/>
                </a:solidFill>
                <a:latin typeface="Calibri" pitchFamily="34" charset="0"/>
                <a:ea typeface="Calibri" pitchFamily="34" charset="-122"/>
                <a:cs typeface="Calibri" pitchFamily="34" charset="-120"/>
              </a:rPr>
              <a:t>animals a year through one shelter,</a:t>
            </a:r>
            <a:endParaRPr lang="en-US" sz="1200" dirty="0"/>
          </a:p>
          <a:p>
            <a:pPr algn="l" indent="0" marL="0">
              <a:buNone/>
            </a:pPr>
            <a:r>
              <a:rPr lang="en-US" sz="1200" dirty="0">
                <a:solidFill>
                  <a:srgbClr val="4A5E72"/>
                </a:solidFill>
                <a:latin typeface="Calibri" pitchFamily="34" charset="0"/>
                <a:ea typeface="Calibri" pitchFamily="34" charset="-122"/>
                <a:cs typeface="Calibri" pitchFamily="34" charset="-120"/>
              </a:rPr>
              <a:t>the largest no-kill municipal shelter</a:t>
            </a:r>
            <a:endParaRPr lang="en-US" sz="1200" dirty="0"/>
          </a:p>
          <a:p>
            <a:pPr algn="l" indent="0" marL="0">
              <a:buNone/>
            </a:pPr>
            <a:r>
              <a:rPr lang="en-US" sz="1200" dirty="0">
                <a:solidFill>
                  <a:srgbClr val="4A5E72"/>
                </a:solidFill>
                <a:latin typeface="Calibri" pitchFamily="34" charset="0"/>
                <a:ea typeface="Calibri" pitchFamily="34" charset="-122"/>
                <a:cs typeface="Calibri" pitchFamily="34" charset="-120"/>
              </a:rPr>
              <a:t>in the United States</a:t>
            </a:r>
            <a:endParaRPr lang="en-US" sz="1200" dirty="0"/>
          </a:p>
        </p:txBody>
      </p:sp>
      <p:sp>
        <p:nvSpPr>
          <p:cNvPr id="7" name="Shape 5"/>
          <p:cNvSpPr/>
          <p:nvPr/>
        </p:nvSpPr>
        <p:spPr>
          <a:xfrm>
            <a:off x="1042416" y="3886200"/>
            <a:ext cx="4023360" cy="0"/>
          </a:xfrm>
          <a:prstGeom prst="line">
            <a:avLst/>
          </a:prstGeom>
          <a:noFill/>
          <a:ln w="12700">
            <a:solidFill>
              <a:srgbClr val="DCE3E9"/>
            </a:solidFill>
            <a:prstDash val="solid"/>
          </a:ln>
        </p:spPr>
      </p:sp>
      <p:sp>
        <p:nvSpPr>
          <p:cNvPr id="8" name="Text 6"/>
          <p:cNvSpPr/>
          <p:nvPr/>
        </p:nvSpPr>
        <p:spPr>
          <a:xfrm>
            <a:off x="1042416" y="4069080"/>
            <a:ext cx="4206240" cy="822960"/>
          </a:xfrm>
          <a:prstGeom prst="rect">
            <a:avLst/>
          </a:prstGeom>
          <a:noFill/>
          <a:ln/>
        </p:spPr>
        <p:txBody>
          <a:bodyPr wrap="square" lIns="0" tIns="0" rIns="0" bIns="0" rtlCol="0" anchor="ctr"/>
          <a:lstStyle/>
          <a:p>
            <a:pPr indent="0" marL="0">
              <a:lnSpc>
                <a:spcPts val="2000"/>
              </a:lnSpc>
              <a:buNone/>
            </a:pPr>
            <a:r>
              <a:rPr lang="en-US" sz="1400" dirty="0">
                <a:solidFill>
                  <a:srgbClr val="4A5E72"/>
                </a:solidFill>
                <a:latin typeface="Calibri" pitchFamily="34" charset="0"/>
                <a:ea typeface="Calibri" pitchFamily="34" charset="-122"/>
                <a:cs typeface="Calibri" pitchFamily="34" charset="-120"/>
              </a:rPr>
              <a:t>The animals nobody happens to notice are the ones who wait months.</a:t>
            </a:r>
            <a:endParaRPr lang="en-US" sz="1400" dirty="0"/>
          </a:p>
        </p:txBody>
      </p:sp>
      <p:sp>
        <p:nvSpPr>
          <p:cNvPr id="9" name="Shape 7"/>
          <p:cNvSpPr/>
          <p:nvPr/>
        </p:nvSpPr>
        <p:spPr>
          <a:xfrm>
            <a:off x="6035040" y="1965960"/>
            <a:ext cx="384048" cy="384048"/>
          </a:xfrm>
          <a:prstGeom prst="ellipse">
            <a:avLst/>
          </a:prstGeom>
          <a:solidFill>
            <a:srgbClr val="14A67C"/>
          </a:solidFill>
          <a:ln/>
        </p:spPr>
      </p:sp>
      <p:sp>
        <p:nvSpPr>
          <p:cNvPr id="10" name="Text 8"/>
          <p:cNvSpPr/>
          <p:nvPr/>
        </p:nvSpPr>
        <p:spPr>
          <a:xfrm>
            <a:off x="6035040"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6629400" y="1874520"/>
            <a:ext cx="4937760" cy="384048"/>
          </a:xfrm>
          <a:prstGeom prst="rect">
            <a:avLst/>
          </a:prstGeom>
          <a:noFill/>
          <a:ln/>
        </p:spPr>
        <p:txBody>
          <a:bodyPr wrap="square" lIns="0" tIns="0" rIns="0" bIns="0" rtlCol="0" anchor="ctr"/>
          <a:lstStyle/>
          <a:p>
            <a:pPr indent="0" marL="0">
              <a:buNone/>
            </a:pPr>
            <a:r>
              <a:rPr lang="en-US" sz="1650" b="1" dirty="0">
                <a:solidFill>
                  <a:srgbClr val="0F1B2A"/>
                </a:solidFill>
                <a:latin typeface="Calibri" pitchFamily="34" charset="0"/>
                <a:ea typeface="Calibri" pitchFamily="34" charset="-122"/>
                <a:cs typeface="Calibri" pitchFamily="34" charset="-120"/>
              </a:rPr>
              <a:t>Will this animal go home this week?</a:t>
            </a:r>
            <a:endParaRPr lang="en-US" sz="1650" dirty="0"/>
          </a:p>
        </p:txBody>
      </p:sp>
      <p:sp>
        <p:nvSpPr>
          <p:cNvPr id="12" name="Text 10"/>
          <p:cNvSpPr/>
          <p:nvPr/>
        </p:nvSpPr>
        <p:spPr>
          <a:xfrm>
            <a:off x="6629400" y="2258568"/>
            <a:ext cx="4937760" cy="365760"/>
          </a:xfrm>
          <a:prstGeom prst="rect">
            <a:avLst/>
          </a:prstGeom>
          <a:noFill/>
          <a:ln/>
        </p:spPr>
        <p:txBody>
          <a:bodyPr wrap="square" lIns="0" tIns="0" rIns="0" bIns="0" rtlCol="0" anchor="ctr"/>
          <a:lstStyle/>
          <a:p>
            <a:pPr indent="0" marL="0">
              <a:buNone/>
            </a:pPr>
            <a:r>
              <a:rPr lang="en-US" sz="1250" dirty="0">
                <a:solidFill>
                  <a:srgbClr val="0E7C5C"/>
                </a:solidFill>
                <a:latin typeface="Calibri" pitchFamily="34" charset="0"/>
                <a:ea typeface="Calibri" pitchFamily="34" charset="-122"/>
                <a:cs typeface="Calibri" pitchFamily="34" charset="-120"/>
              </a:rPr>
              <a:t>P(adopted in 7, 14, 30 days)</a:t>
            </a:r>
            <a:endParaRPr lang="en-US" sz="1250" dirty="0"/>
          </a:p>
        </p:txBody>
      </p:sp>
      <p:sp>
        <p:nvSpPr>
          <p:cNvPr id="13" name="Shape 11"/>
          <p:cNvSpPr/>
          <p:nvPr/>
        </p:nvSpPr>
        <p:spPr>
          <a:xfrm>
            <a:off x="6035040" y="3044952"/>
            <a:ext cx="384048" cy="384048"/>
          </a:xfrm>
          <a:prstGeom prst="ellipse">
            <a:avLst/>
          </a:prstGeom>
          <a:solidFill>
            <a:srgbClr val="14A67C"/>
          </a:solidFill>
          <a:ln/>
        </p:spPr>
      </p:sp>
      <p:sp>
        <p:nvSpPr>
          <p:cNvPr id="14" name="Text 12"/>
          <p:cNvSpPr/>
          <p:nvPr/>
        </p:nvSpPr>
        <p:spPr>
          <a:xfrm>
            <a:off x="6035040" y="30449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6629400" y="2953512"/>
            <a:ext cx="4937760" cy="384048"/>
          </a:xfrm>
          <a:prstGeom prst="rect">
            <a:avLst/>
          </a:prstGeom>
          <a:noFill/>
          <a:ln/>
        </p:spPr>
        <p:txBody>
          <a:bodyPr wrap="square" lIns="0" tIns="0" rIns="0" bIns="0" rtlCol="0" anchor="ctr"/>
          <a:lstStyle/>
          <a:p>
            <a:pPr indent="0" marL="0">
              <a:buNone/>
            </a:pPr>
            <a:r>
              <a:rPr lang="en-US" sz="1650" b="1" dirty="0">
                <a:solidFill>
                  <a:srgbClr val="0F1B2A"/>
                </a:solidFill>
                <a:latin typeface="Calibri" pitchFamily="34" charset="0"/>
                <a:ea typeface="Calibri" pitchFamily="34" charset="-122"/>
                <a:cs typeface="Calibri" pitchFamily="34" charset="-120"/>
              </a:rPr>
              <a:t>Will it still be here in two months?</a:t>
            </a:r>
            <a:endParaRPr lang="en-US" sz="1650" dirty="0"/>
          </a:p>
        </p:txBody>
      </p:sp>
      <p:sp>
        <p:nvSpPr>
          <p:cNvPr id="16" name="Text 14"/>
          <p:cNvSpPr/>
          <p:nvPr/>
        </p:nvSpPr>
        <p:spPr>
          <a:xfrm>
            <a:off x="6629400" y="3337560"/>
            <a:ext cx="4937760" cy="365760"/>
          </a:xfrm>
          <a:prstGeom prst="rect">
            <a:avLst/>
          </a:prstGeom>
          <a:noFill/>
          <a:ln/>
        </p:spPr>
        <p:txBody>
          <a:bodyPr wrap="square" lIns="0" tIns="0" rIns="0" bIns="0" rtlCol="0" anchor="ctr"/>
          <a:lstStyle/>
          <a:p>
            <a:pPr indent="0" marL="0">
              <a:buNone/>
            </a:pPr>
            <a:r>
              <a:rPr lang="en-US" sz="1250" dirty="0">
                <a:solidFill>
                  <a:srgbClr val="0E7C5C"/>
                </a:solidFill>
                <a:latin typeface="Calibri" pitchFamily="34" charset="0"/>
                <a:ea typeface="Calibri" pitchFamily="34" charset="-122"/>
                <a:cs typeface="Calibri" pitchFamily="34" charset="-120"/>
              </a:rPr>
              <a:t>P(long stay past 60 days)</a:t>
            </a:r>
            <a:endParaRPr lang="en-US" sz="1250" dirty="0"/>
          </a:p>
        </p:txBody>
      </p:sp>
      <p:sp>
        <p:nvSpPr>
          <p:cNvPr id="17" name="Shape 15"/>
          <p:cNvSpPr/>
          <p:nvPr/>
        </p:nvSpPr>
        <p:spPr>
          <a:xfrm>
            <a:off x="6035040" y="4123944"/>
            <a:ext cx="384048" cy="384048"/>
          </a:xfrm>
          <a:prstGeom prst="ellipse">
            <a:avLst/>
          </a:prstGeom>
          <a:solidFill>
            <a:srgbClr val="14A67C"/>
          </a:solidFill>
          <a:ln/>
        </p:spPr>
      </p:sp>
      <p:sp>
        <p:nvSpPr>
          <p:cNvPr id="18" name="Text 16"/>
          <p:cNvSpPr/>
          <p:nvPr/>
        </p:nvSpPr>
        <p:spPr>
          <a:xfrm>
            <a:off x="6035040" y="4123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6629400" y="4032504"/>
            <a:ext cx="4937760" cy="384048"/>
          </a:xfrm>
          <a:prstGeom prst="rect">
            <a:avLst/>
          </a:prstGeom>
          <a:noFill/>
          <a:ln/>
        </p:spPr>
        <p:txBody>
          <a:bodyPr wrap="square" lIns="0" tIns="0" rIns="0" bIns="0" rtlCol="0" anchor="ctr"/>
          <a:lstStyle/>
          <a:p>
            <a:pPr indent="0" marL="0">
              <a:buNone/>
            </a:pPr>
            <a:r>
              <a:rPr lang="en-US" sz="1650" b="1" dirty="0">
                <a:solidFill>
                  <a:srgbClr val="0F1B2A"/>
                </a:solidFill>
                <a:latin typeface="Calibri" pitchFamily="34" charset="0"/>
                <a:ea typeface="Calibri" pitchFamily="34" charset="-122"/>
                <a:cs typeface="Calibri" pitchFamily="34" charset="-120"/>
              </a:rPr>
              <a:t>How long, exactly?</a:t>
            </a:r>
            <a:endParaRPr lang="en-US" sz="1650" dirty="0"/>
          </a:p>
        </p:txBody>
      </p:sp>
      <p:sp>
        <p:nvSpPr>
          <p:cNvPr id="20" name="Text 18"/>
          <p:cNvSpPr/>
          <p:nvPr/>
        </p:nvSpPr>
        <p:spPr>
          <a:xfrm>
            <a:off x="6629400" y="4416552"/>
            <a:ext cx="4937760" cy="365760"/>
          </a:xfrm>
          <a:prstGeom prst="rect">
            <a:avLst/>
          </a:prstGeom>
          <a:noFill/>
          <a:ln/>
        </p:spPr>
        <p:txBody>
          <a:bodyPr wrap="square" lIns="0" tIns="0" rIns="0" bIns="0" rtlCol="0" anchor="ctr"/>
          <a:lstStyle/>
          <a:p>
            <a:pPr indent="0" marL="0">
              <a:buNone/>
            </a:pPr>
            <a:r>
              <a:rPr lang="en-US" sz="1250" dirty="0">
                <a:solidFill>
                  <a:srgbClr val="0E7C5C"/>
                </a:solidFill>
                <a:latin typeface="Calibri" pitchFamily="34" charset="0"/>
                <a:ea typeface="Calibri" pitchFamily="34" charset="-122"/>
                <a:cs typeface="Calibri" pitchFamily="34" charset="-120"/>
              </a:rPr>
              <a:t>Full cumulative incidence curve</a:t>
            </a:r>
            <a:endParaRPr lang="en-US" sz="1250" dirty="0"/>
          </a:p>
        </p:txBody>
      </p:sp>
      <p:sp>
        <p:nvSpPr>
          <p:cNvPr id="21" name="Text 19"/>
          <p:cNvSpPr/>
          <p:nvPr/>
        </p:nvSpPr>
        <p:spPr>
          <a:xfrm>
            <a:off x="6035040" y="5138928"/>
            <a:ext cx="5577840" cy="457200"/>
          </a:xfrm>
          <a:prstGeom prst="rect">
            <a:avLst/>
          </a:prstGeom>
          <a:noFill/>
          <a:ln/>
        </p:spPr>
        <p:txBody>
          <a:bodyPr wrap="square" lIns="0" tIns="0" rIns="0" bIns="0" rtlCol="0" anchor="ctr"/>
          <a:lstStyle/>
          <a:p>
            <a:pPr indent="0" marL="0">
              <a:buNone/>
            </a:pPr>
            <a:r>
              <a:rPr lang="en-US" sz="1200" i="1" dirty="0">
                <a:solidFill>
                  <a:srgbClr val="8195A8"/>
                </a:solidFill>
                <a:latin typeface="Calibri" pitchFamily="34" charset="0"/>
                <a:ea typeface="Calibri" pitchFamily="34" charset="-122"/>
                <a:cs typeface="Calibri" pitchFamily="34" charset="-120"/>
              </a:rPr>
              <a:t>Answered at the intake desk, from 56 features, none of which require anyone to watch the animal.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658368" y="384048"/>
            <a:ext cx="10844784" cy="566928"/>
          </a:xfrm>
          <a:prstGeom prst="rect">
            <a:avLst/>
          </a:prstGeom>
          <a:noFill/>
          <a:ln/>
        </p:spPr>
        <p:txBody>
          <a:bodyPr wrap="square" lIns="0" tIns="0" rIns="0" bIns="0" rtlCol="0" anchor="t"/>
          <a:lstStyle/>
          <a:p>
            <a:pPr indent="0" marL="0">
              <a:buNone/>
            </a:pPr>
            <a:r>
              <a:rPr lang="en-US" sz="3400" b="1" dirty="0">
                <a:solidFill>
                  <a:srgbClr val="0F1B2A"/>
                </a:solidFill>
                <a:latin typeface="Cambria" pitchFamily="34" charset="0"/>
                <a:ea typeface="Cambria" pitchFamily="34" charset="-122"/>
                <a:cs typeface="Cambria" pitchFamily="34" charset="-120"/>
              </a:rPr>
              <a:t>Two event logs, no episode key, and repeat visitors</a:t>
            </a:r>
            <a:endParaRPr lang="en-US" sz="3400" dirty="0"/>
          </a:p>
        </p:txBody>
      </p:sp>
      <p:sp>
        <p:nvSpPr>
          <p:cNvPr id="3" name="Text 1"/>
          <p:cNvSpPr/>
          <p:nvPr/>
        </p:nvSpPr>
        <p:spPr>
          <a:xfrm>
            <a:off x="658368" y="1042416"/>
            <a:ext cx="10844784" cy="384048"/>
          </a:xfrm>
          <a:prstGeom prst="rect">
            <a:avLst/>
          </a:prstGeom>
          <a:noFill/>
          <a:ln/>
        </p:spPr>
        <p:txBody>
          <a:bodyPr wrap="square" lIns="0" tIns="0" rIns="0" bIns="0" rtlCol="0" anchor="ctr"/>
          <a:lstStyle/>
          <a:p>
            <a:pPr indent="0" marL="0">
              <a:buNone/>
            </a:pPr>
            <a:r>
              <a:rPr lang="en-US" sz="1450" dirty="0">
                <a:solidFill>
                  <a:srgbClr val="4A5E72"/>
                </a:solidFill>
                <a:latin typeface="Calibri" pitchFamily="34" charset="0"/>
                <a:ea typeface="Calibri" pitchFamily="34" charset="-122"/>
                <a:cs typeface="Calibri" pitchFamily="34" charset="-120"/>
              </a:rPr>
              <a:t>A join on animal ID alone produces a cross product whose durations look entirely plausible.</a:t>
            </a:r>
            <a:endParaRPr lang="en-US" sz="1450" dirty="0"/>
          </a:p>
        </p:txBody>
      </p:sp>
      <p:pic>
        <p:nvPicPr>
          <p:cNvPr id="4" name="Image 0" descr="/home/claude/secondchance/results/figures/fig02_data_funnel.png">    </p:cNvPr>
          <p:cNvPicPr>
            <a:picLocks noChangeAspect="1"/>
          </p:cNvPicPr>
          <p:nvPr/>
        </p:nvPicPr>
        <p:blipFill>
          <a:blip r:embed="rId1"/>
          <a:stretch>
            <a:fillRect/>
          </a:stretch>
        </p:blipFill>
        <p:spPr>
          <a:xfrm>
            <a:off x="658368" y="1691640"/>
            <a:ext cx="6858000" cy="2980944"/>
          </a:xfrm>
          <a:prstGeom prst="rect">
            <a:avLst/>
          </a:prstGeom>
        </p:spPr>
      </p:pic>
      <p:sp>
        <p:nvSpPr>
          <p:cNvPr id="5" name="Shape 2"/>
          <p:cNvSpPr/>
          <p:nvPr/>
        </p:nvSpPr>
        <p:spPr>
          <a:xfrm>
            <a:off x="7818120" y="1691640"/>
            <a:ext cx="3703320" cy="4114800"/>
          </a:xfrm>
          <a:prstGeom prst="roundRect">
            <a:avLst>
              <a:gd name="adj" fmla="val 1481"/>
            </a:avLst>
          </a:prstGeom>
          <a:solidFill>
            <a:srgbClr val="FFFFFF"/>
          </a:solidFill>
          <a:ln w="12700">
            <a:solidFill>
              <a:srgbClr val="DCE3E9"/>
            </a:solidFill>
            <a:prstDash val="solid"/>
          </a:ln>
          <a:effectLst>
            <a:outerShdw sx="100000" sy="100000" kx="0" ky="0" algn="bl" rotWithShape="0" blurRad="101600" dist="12700" dir="5400000">
              <a:srgbClr val="9AA9B8">
                <a:alpha val="16000"/>
              </a:srgbClr>
            </a:outerShdw>
          </a:effectLst>
        </p:spPr>
      </p:sp>
      <p:sp>
        <p:nvSpPr>
          <p:cNvPr id="6" name="Text 3"/>
          <p:cNvSpPr/>
          <p:nvPr/>
        </p:nvSpPr>
        <p:spPr>
          <a:xfrm>
            <a:off x="8138160" y="1847088"/>
            <a:ext cx="3108960" cy="365760"/>
          </a:xfrm>
          <a:prstGeom prst="rect">
            <a:avLst/>
          </a:prstGeom>
          <a:noFill/>
          <a:ln/>
        </p:spPr>
        <p:txBody>
          <a:bodyPr wrap="square" lIns="0" tIns="0" rIns="0" bIns="0" rtlCol="0" anchor="ctr"/>
          <a:lstStyle/>
          <a:p>
            <a:pPr indent="0" marL="0">
              <a:buNone/>
            </a:pPr>
            <a:r>
              <a:rPr lang="en-US" sz="1500" b="1" dirty="0">
                <a:solidFill>
                  <a:srgbClr val="0F1B2A"/>
                </a:solidFill>
                <a:latin typeface="Calibri" pitchFamily="34" charset="0"/>
                <a:ea typeface="Calibri" pitchFamily="34" charset="-122"/>
                <a:cs typeface="Calibri" pitchFamily="34" charset="-120"/>
              </a:rPr>
              <a:t>The audit</a:t>
            </a:r>
            <a:endParaRPr lang="en-US" sz="1500" dirty="0"/>
          </a:p>
        </p:txBody>
      </p:sp>
      <p:sp>
        <p:nvSpPr>
          <p:cNvPr id="7" name="Text 4"/>
          <p:cNvSpPr/>
          <p:nvPr/>
        </p:nvSpPr>
        <p:spPr>
          <a:xfrm>
            <a:off x="8138160" y="2304288"/>
            <a:ext cx="2103120" cy="365760"/>
          </a:xfrm>
          <a:prstGeom prst="rect">
            <a:avLst/>
          </a:prstGeom>
          <a:noFill/>
          <a:ln/>
        </p:spPr>
        <p:txBody>
          <a:bodyPr wrap="square" lIns="0" tIns="0" rIns="0" bIns="0" rtlCol="0" anchor="ctr"/>
          <a:lstStyle/>
          <a:p>
            <a:pPr indent="0" marL="0">
              <a:buNone/>
            </a:pPr>
            <a:r>
              <a:rPr lang="en-US" sz="1150" dirty="0">
                <a:solidFill>
                  <a:srgbClr val="4A5E72"/>
                </a:solidFill>
                <a:latin typeface="Calibri" pitchFamily="34" charset="0"/>
                <a:ea typeface="Calibri" pitchFamily="34" charset="-122"/>
                <a:cs typeface="Calibri" pitchFamily="34" charset="-120"/>
              </a:rPr>
              <a:t>Episodes built</a:t>
            </a:r>
            <a:endParaRPr lang="en-US" sz="1150" dirty="0"/>
          </a:p>
        </p:txBody>
      </p:sp>
      <p:sp>
        <p:nvSpPr>
          <p:cNvPr id="8" name="Text 5"/>
          <p:cNvSpPr/>
          <p:nvPr/>
        </p:nvSpPr>
        <p:spPr>
          <a:xfrm>
            <a:off x="10058400" y="2304288"/>
            <a:ext cx="1325880" cy="365760"/>
          </a:xfrm>
          <a:prstGeom prst="rect">
            <a:avLst/>
          </a:prstGeom>
          <a:noFill/>
          <a:ln/>
        </p:spPr>
        <p:txBody>
          <a:bodyPr wrap="square" lIns="0" tIns="0" rIns="0" bIns="0" rtlCol="0" anchor="ctr"/>
          <a:lstStyle/>
          <a:p>
            <a:pPr algn="r" indent="0" marL="0">
              <a:buNone/>
            </a:pPr>
            <a:r>
              <a:rPr lang="en-US" sz="1200" b="1" dirty="0">
                <a:solidFill>
                  <a:srgbClr val="0F1B2A"/>
                </a:solidFill>
                <a:latin typeface="Calibri" pitchFamily="34" charset="0"/>
                <a:ea typeface="Calibri" pitchFamily="34" charset="-122"/>
                <a:cs typeface="Calibri" pitchFamily="34" charset="-120"/>
              </a:rPr>
              <a:t>136,898</a:t>
            </a:r>
            <a:endParaRPr lang="en-US" sz="1200" dirty="0"/>
          </a:p>
        </p:txBody>
      </p:sp>
      <p:sp>
        <p:nvSpPr>
          <p:cNvPr id="9" name="Text 6"/>
          <p:cNvSpPr/>
          <p:nvPr/>
        </p:nvSpPr>
        <p:spPr>
          <a:xfrm>
            <a:off x="8138160" y="2706624"/>
            <a:ext cx="2103120" cy="365760"/>
          </a:xfrm>
          <a:prstGeom prst="rect">
            <a:avLst/>
          </a:prstGeom>
          <a:noFill/>
          <a:ln/>
        </p:spPr>
        <p:txBody>
          <a:bodyPr wrap="square" lIns="0" tIns="0" rIns="0" bIns="0" rtlCol="0" anchor="ctr"/>
          <a:lstStyle/>
          <a:p>
            <a:pPr indent="0" marL="0">
              <a:buNone/>
            </a:pPr>
            <a:r>
              <a:rPr lang="en-US" sz="1150" dirty="0">
                <a:solidFill>
                  <a:srgbClr val="4A5E72"/>
                </a:solidFill>
                <a:latin typeface="Calibri" pitchFamily="34" charset="0"/>
                <a:ea typeface="Calibri" pitchFamily="34" charset="-122"/>
                <a:cs typeface="Calibri" pitchFamily="34" charset="-120"/>
              </a:rPr>
              <a:t>Closed by an outcome</a:t>
            </a:r>
            <a:endParaRPr lang="en-US" sz="1150" dirty="0"/>
          </a:p>
        </p:txBody>
      </p:sp>
      <p:sp>
        <p:nvSpPr>
          <p:cNvPr id="10" name="Text 7"/>
          <p:cNvSpPr/>
          <p:nvPr/>
        </p:nvSpPr>
        <p:spPr>
          <a:xfrm>
            <a:off x="10058400" y="2706624"/>
            <a:ext cx="1325880" cy="365760"/>
          </a:xfrm>
          <a:prstGeom prst="rect">
            <a:avLst/>
          </a:prstGeom>
          <a:noFill/>
          <a:ln/>
        </p:spPr>
        <p:txBody>
          <a:bodyPr wrap="square" lIns="0" tIns="0" rIns="0" bIns="0" rtlCol="0" anchor="ctr"/>
          <a:lstStyle/>
          <a:p>
            <a:pPr algn="r" indent="0" marL="0">
              <a:buNone/>
            </a:pPr>
            <a:r>
              <a:rPr lang="en-US" sz="1200" b="1" dirty="0">
                <a:solidFill>
                  <a:srgbClr val="0F1B2A"/>
                </a:solidFill>
                <a:latin typeface="Calibri" pitchFamily="34" charset="0"/>
                <a:ea typeface="Calibri" pitchFamily="34" charset="-122"/>
                <a:cs typeface="Calibri" pitchFamily="34" charset="-120"/>
              </a:rPr>
              <a:t>135,669 (99.1%)</a:t>
            </a:r>
            <a:endParaRPr lang="en-US" sz="1200" dirty="0"/>
          </a:p>
        </p:txBody>
      </p:sp>
      <p:sp>
        <p:nvSpPr>
          <p:cNvPr id="11" name="Text 8"/>
          <p:cNvSpPr/>
          <p:nvPr/>
        </p:nvSpPr>
        <p:spPr>
          <a:xfrm>
            <a:off x="8138160" y="3108960"/>
            <a:ext cx="2103120" cy="365760"/>
          </a:xfrm>
          <a:prstGeom prst="rect">
            <a:avLst/>
          </a:prstGeom>
          <a:noFill/>
          <a:ln/>
        </p:spPr>
        <p:txBody>
          <a:bodyPr wrap="square" lIns="0" tIns="0" rIns="0" bIns="0" rtlCol="0" anchor="ctr"/>
          <a:lstStyle/>
          <a:p>
            <a:pPr indent="0" marL="0">
              <a:buNone/>
            </a:pPr>
            <a:r>
              <a:rPr lang="en-US" sz="1150" dirty="0">
                <a:solidFill>
                  <a:srgbClr val="4A5E72"/>
                </a:solidFill>
                <a:latin typeface="Calibri" pitchFamily="34" charset="0"/>
                <a:ea typeface="Calibri" pitchFamily="34" charset="-122"/>
                <a:cs typeface="Calibri" pitchFamily="34" charset="-120"/>
              </a:rPr>
              <a:t>Matches rejected</a:t>
            </a:r>
            <a:endParaRPr lang="en-US" sz="1150" dirty="0"/>
          </a:p>
        </p:txBody>
      </p:sp>
      <p:sp>
        <p:nvSpPr>
          <p:cNvPr id="12" name="Text 9"/>
          <p:cNvSpPr/>
          <p:nvPr/>
        </p:nvSpPr>
        <p:spPr>
          <a:xfrm>
            <a:off x="10058400" y="3108960"/>
            <a:ext cx="1325880" cy="365760"/>
          </a:xfrm>
          <a:prstGeom prst="rect">
            <a:avLst/>
          </a:prstGeom>
          <a:noFill/>
          <a:ln/>
        </p:spPr>
        <p:txBody>
          <a:bodyPr wrap="square" lIns="0" tIns="0" rIns="0" bIns="0" rtlCol="0" anchor="ctr"/>
          <a:lstStyle/>
          <a:p>
            <a:pPr algn="r" indent="0" marL="0">
              <a:buNone/>
            </a:pPr>
            <a:r>
              <a:rPr lang="en-US" sz="1200" b="1" dirty="0">
                <a:solidFill>
                  <a:srgbClr val="0F1B2A"/>
                </a:solidFill>
                <a:latin typeface="Calibri" pitchFamily="34" charset="0"/>
                <a:ea typeface="Calibri" pitchFamily="34" charset="-122"/>
                <a:cs typeface="Calibri" pitchFamily="34" charset="-120"/>
              </a:rPr>
              <a:t>42</a:t>
            </a:r>
            <a:endParaRPr lang="en-US" sz="1200" dirty="0"/>
          </a:p>
        </p:txBody>
      </p:sp>
      <p:sp>
        <p:nvSpPr>
          <p:cNvPr id="13" name="Text 10"/>
          <p:cNvSpPr/>
          <p:nvPr/>
        </p:nvSpPr>
        <p:spPr>
          <a:xfrm>
            <a:off x="8138160" y="3511296"/>
            <a:ext cx="2103120" cy="365760"/>
          </a:xfrm>
          <a:prstGeom prst="rect">
            <a:avLst/>
          </a:prstGeom>
          <a:noFill/>
          <a:ln/>
        </p:spPr>
        <p:txBody>
          <a:bodyPr wrap="square" lIns="0" tIns="0" rIns="0" bIns="0" rtlCol="0" anchor="ctr"/>
          <a:lstStyle/>
          <a:p>
            <a:pPr indent="0" marL="0">
              <a:buNone/>
            </a:pPr>
            <a:r>
              <a:rPr lang="en-US" sz="1150" dirty="0">
                <a:solidFill>
                  <a:srgbClr val="4A5E72"/>
                </a:solidFill>
                <a:latin typeface="Calibri" pitchFamily="34" charset="0"/>
                <a:ea typeface="Calibri" pitchFamily="34" charset="-122"/>
                <a:cs typeface="Calibri" pitchFamily="34" charset="-120"/>
              </a:rPr>
              <a:t>Negative durations</a:t>
            </a:r>
            <a:endParaRPr lang="en-US" sz="1150" dirty="0"/>
          </a:p>
        </p:txBody>
      </p:sp>
      <p:sp>
        <p:nvSpPr>
          <p:cNvPr id="14" name="Text 11"/>
          <p:cNvSpPr/>
          <p:nvPr/>
        </p:nvSpPr>
        <p:spPr>
          <a:xfrm>
            <a:off x="10058400" y="3511296"/>
            <a:ext cx="1325880" cy="365760"/>
          </a:xfrm>
          <a:prstGeom prst="rect">
            <a:avLst/>
          </a:prstGeom>
          <a:noFill/>
          <a:ln/>
        </p:spPr>
        <p:txBody>
          <a:bodyPr wrap="square" lIns="0" tIns="0" rIns="0" bIns="0" rtlCol="0" anchor="ctr"/>
          <a:lstStyle/>
          <a:p>
            <a:pPr algn="r" indent="0" marL="0">
              <a:buNone/>
            </a:pPr>
            <a:r>
              <a:rPr lang="en-US" sz="1200" b="1" dirty="0">
                <a:solidFill>
                  <a:srgbClr val="0F1B2A"/>
                </a:solidFill>
                <a:latin typeface="Calibri" pitchFamily="34" charset="0"/>
                <a:ea typeface="Calibri" pitchFamily="34" charset="-122"/>
                <a:cs typeface="Calibri" pitchFamily="34" charset="-120"/>
              </a:rPr>
              <a:t>0</a:t>
            </a:r>
            <a:endParaRPr lang="en-US" sz="1200" dirty="0"/>
          </a:p>
        </p:txBody>
      </p:sp>
      <p:sp>
        <p:nvSpPr>
          <p:cNvPr id="15" name="Text 12"/>
          <p:cNvSpPr/>
          <p:nvPr/>
        </p:nvSpPr>
        <p:spPr>
          <a:xfrm>
            <a:off x="8138160" y="3913632"/>
            <a:ext cx="2103120" cy="365760"/>
          </a:xfrm>
          <a:prstGeom prst="rect">
            <a:avLst/>
          </a:prstGeom>
          <a:noFill/>
          <a:ln/>
        </p:spPr>
        <p:txBody>
          <a:bodyPr wrap="square" lIns="0" tIns="0" rIns="0" bIns="0" rtlCol="0" anchor="ctr"/>
          <a:lstStyle/>
          <a:p>
            <a:pPr indent="0" marL="0">
              <a:buNone/>
            </a:pPr>
            <a:r>
              <a:rPr lang="en-US" sz="1150" dirty="0">
                <a:solidFill>
                  <a:srgbClr val="4A5E72"/>
                </a:solidFill>
                <a:latin typeface="Calibri" pitchFamily="34" charset="0"/>
                <a:ea typeface="Calibri" pitchFamily="34" charset="-122"/>
                <a:cs typeface="Calibri" pitchFamily="34" charset="-120"/>
              </a:rPr>
              <a:t>Species mismatches</a:t>
            </a:r>
            <a:endParaRPr lang="en-US" sz="1150" dirty="0"/>
          </a:p>
        </p:txBody>
      </p:sp>
      <p:sp>
        <p:nvSpPr>
          <p:cNvPr id="16" name="Text 13"/>
          <p:cNvSpPr/>
          <p:nvPr/>
        </p:nvSpPr>
        <p:spPr>
          <a:xfrm>
            <a:off x="10058400" y="3913632"/>
            <a:ext cx="1325880" cy="365760"/>
          </a:xfrm>
          <a:prstGeom prst="rect">
            <a:avLst/>
          </a:prstGeom>
          <a:noFill/>
          <a:ln/>
        </p:spPr>
        <p:txBody>
          <a:bodyPr wrap="square" lIns="0" tIns="0" rIns="0" bIns="0" rtlCol="0" anchor="ctr"/>
          <a:lstStyle/>
          <a:p>
            <a:pPr algn="r" indent="0" marL="0">
              <a:buNone/>
            </a:pPr>
            <a:r>
              <a:rPr lang="en-US" sz="1200" b="1" dirty="0">
                <a:solidFill>
                  <a:srgbClr val="0F1B2A"/>
                </a:solidFill>
                <a:latin typeface="Calibri" pitchFamily="34" charset="0"/>
                <a:ea typeface="Calibri" pitchFamily="34" charset="-122"/>
                <a:cs typeface="Calibri" pitchFamily="34" charset="-120"/>
              </a:rPr>
              <a:t>0</a:t>
            </a:r>
            <a:endParaRPr lang="en-US" sz="1200" dirty="0"/>
          </a:p>
        </p:txBody>
      </p:sp>
      <p:sp>
        <p:nvSpPr>
          <p:cNvPr id="17" name="Text 14"/>
          <p:cNvSpPr/>
          <p:nvPr/>
        </p:nvSpPr>
        <p:spPr>
          <a:xfrm>
            <a:off x="8138160" y="4315968"/>
            <a:ext cx="2103120" cy="365760"/>
          </a:xfrm>
          <a:prstGeom prst="rect">
            <a:avLst/>
          </a:prstGeom>
          <a:noFill/>
          <a:ln/>
        </p:spPr>
        <p:txBody>
          <a:bodyPr wrap="square" lIns="0" tIns="0" rIns="0" bIns="0" rtlCol="0" anchor="ctr"/>
          <a:lstStyle/>
          <a:p>
            <a:pPr indent="0" marL="0">
              <a:buNone/>
            </a:pPr>
            <a:r>
              <a:rPr lang="en-US" sz="1150" dirty="0">
                <a:solidFill>
                  <a:srgbClr val="4A5E72"/>
                </a:solidFill>
                <a:latin typeface="Calibri" pitchFamily="34" charset="0"/>
                <a:ea typeface="Calibri" pitchFamily="34" charset="-122"/>
                <a:cs typeface="Calibri" pitchFamily="34" charset="-120"/>
              </a:rPr>
              <a:t>Suspected lost paperwork</a:t>
            </a:r>
            <a:endParaRPr lang="en-US" sz="1150" dirty="0"/>
          </a:p>
        </p:txBody>
      </p:sp>
      <p:sp>
        <p:nvSpPr>
          <p:cNvPr id="18" name="Text 15"/>
          <p:cNvSpPr/>
          <p:nvPr/>
        </p:nvSpPr>
        <p:spPr>
          <a:xfrm>
            <a:off x="10058400" y="4315968"/>
            <a:ext cx="1325880" cy="365760"/>
          </a:xfrm>
          <a:prstGeom prst="rect">
            <a:avLst/>
          </a:prstGeom>
          <a:noFill/>
          <a:ln/>
        </p:spPr>
        <p:txBody>
          <a:bodyPr wrap="square" lIns="0" tIns="0" rIns="0" bIns="0" rtlCol="0" anchor="ctr"/>
          <a:lstStyle/>
          <a:p>
            <a:pPr algn="r" indent="0" marL="0">
              <a:buNone/>
            </a:pPr>
            <a:r>
              <a:rPr lang="en-US" sz="1200" b="1" dirty="0">
                <a:solidFill>
                  <a:srgbClr val="0F1B2A"/>
                </a:solidFill>
                <a:latin typeface="Calibri" pitchFamily="34" charset="0"/>
                <a:ea typeface="Calibri" pitchFamily="34" charset="-122"/>
                <a:cs typeface="Calibri" pitchFamily="34" charset="-120"/>
              </a:rPr>
              <a:t>622</a:t>
            </a:r>
            <a:endParaRPr lang="en-US" sz="1200" dirty="0"/>
          </a:p>
        </p:txBody>
      </p:sp>
      <p:sp>
        <p:nvSpPr>
          <p:cNvPr id="19" name="Shape 16"/>
          <p:cNvSpPr/>
          <p:nvPr/>
        </p:nvSpPr>
        <p:spPr>
          <a:xfrm>
            <a:off x="8138160" y="4773168"/>
            <a:ext cx="3108960" cy="0"/>
          </a:xfrm>
          <a:prstGeom prst="line">
            <a:avLst/>
          </a:prstGeom>
          <a:noFill/>
          <a:ln w="12700">
            <a:solidFill>
              <a:srgbClr val="DCE3E9"/>
            </a:solidFill>
            <a:prstDash val="solid"/>
          </a:ln>
        </p:spPr>
      </p:sp>
      <p:sp>
        <p:nvSpPr>
          <p:cNvPr id="20" name="Text 17"/>
          <p:cNvSpPr/>
          <p:nvPr/>
        </p:nvSpPr>
        <p:spPr>
          <a:xfrm>
            <a:off x="8138160" y="4901184"/>
            <a:ext cx="3108960" cy="274320"/>
          </a:xfrm>
          <a:prstGeom prst="rect">
            <a:avLst/>
          </a:prstGeom>
          <a:noFill/>
          <a:ln/>
        </p:spPr>
        <p:txBody>
          <a:bodyPr wrap="square" lIns="0" tIns="0" rIns="0" bIns="0" rtlCol="0" anchor="ctr"/>
          <a:lstStyle/>
          <a:p>
            <a:pPr indent="0" marL="0">
              <a:buNone/>
            </a:pPr>
            <a:r>
              <a:rPr lang="en-US" sz="1150" dirty="0">
                <a:solidFill>
                  <a:srgbClr val="4A5E72"/>
                </a:solidFill>
                <a:latin typeface="Calibri" pitchFamily="34" charset="0"/>
                <a:ea typeface="Calibri" pitchFamily="34" charset="-122"/>
                <a:cs typeface="Calibri" pitchFamily="34" charset="-120"/>
              </a:rPr>
              <a:t>Shuffled-label control:</a:t>
            </a:r>
            <a:endParaRPr lang="en-US" sz="1150" dirty="0"/>
          </a:p>
        </p:txBody>
      </p:sp>
      <p:sp>
        <p:nvSpPr>
          <p:cNvPr id="21" name="Text 18"/>
          <p:cNvSpPr/>
          <p:nvPr/>
        </p:nvSpPr>
        <p:spPr>
          <a:xfrm>
            <a:off x="8138160" y="5138928"/>
            <a:ext cx="3108960" cy="457200"/>
          </a:xfrm>
          <a:prstGeom prst="rect">
            <a:avLst/>
          </a:prstGeom>
          <a:noFill/>
          <a:ln/>
        </p:spPr>
        <p:txBody>
          <a:bodyPr wrap="square" lIns="0" tIns="0" rIns="0" bIns="0" rtlCol="0" anchor="ctr"/>
          <a:lstStyle/>
          <a:p>
            <a:pPr indent="0" marL="0">
              <a:buNone/>
            </a:pPr>
            <a:r>
              <a:rPr lang="en-US" sz="2400" b="1" dirty="0">
                <a:solidFill>
                  <a:srgbClr val="0E7C5C"/>
                </a:solidFill>
                <a:latin typeface="Cambria" pitchFamily="34" charset="0"/>
                <a:ea typeface="Cambria" pitchFamily="34" charset="-122"/>
                <a:cs typeface="Cambria" pitchFamily="34" charset="-120"/>
              </a:rPr>
              <a:t>AUC 0.5023</a:t>
            </a:r>
            <a:endParaRPr lang="en-US" sz="2400" dirty="0"/>
          </a:p>
        </p:txBody>
      </p:sp>
      <p:sp>
        <p:nvSpPr>
          <p:cNvPr id="22" name="Text 19"/>
          <p:cNvSpPr/>
          <p:nvPr/>
        </p:nvSpPr>
        <p:spPr>
          <a:xfrm>
            <a:off x="8138160" y="5541264"/>
            <a:ext cx="3108960" cy="274320"/>
          </a:xfrm>
          <a:prstGeom prst="rect">
            <a:avLst/>
          </a:prstGeom>
          <a:noFill/>
          <a:ln/>
        </p:spPr>
        <p:txBody>
          <a:bodyPr wrap="square" lIns="0" tIns="0" rIns="0" bIns="0" rtlCol="0" anchor="ctr"/>
          <a:lstStyle/>
          <a:p>
            <a:pPr indent="0" marL="0">
              <a:buNone/>
            </a:pPr>
            <a:r>
              <a:rPr lang="en-US" sz="1050" i="1" dirty="0">
                <a:solidFill>
                  <a:srgbClr val="8195A8"/>
                </a:solidFill>
                <a:latin typeface="Calibri" pitchFamily="34" charset="0"/>
                <a:ea typeface="Calibri" pitchFamily="34" charset="-122"/>
                <a:cs typeface="Calibri" pitchFamily="34" charset="-120"/>
              </a:rPr>
              <a:t>no feature encodes the outcome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658368" y="384048"/>
            <a:ext cx="10844784" cy="566928"/>
          </a:xfrm>
          <a:prstGeom prst="rect">
            <a:avLst/>
          </a:prstGeom>
          <a:noFill/>
          <a:ln/>
        </p:spPr>
        <p:txBody>
          <a:bodyPr wrap="square" lIns="0" tIns="0" rIns="0" bIns="0" rtlCol="0" anchor="t"/>
          <a:lstStyle/>
          <a:p>
            <a:pPr indent="0" marL="0">
              <a:buNone/>
            </a:pPr>
            <a:r>
              <a:rPr lang="en-US" sz="3400" b="1" dirty="0">
                <a:solidFill>
                  <a:srgbClr val="0F1B2A"/>
                </a:solidFill>
                <a:latin typeface="Cambria" pitchFamily="34" charset="0"/>
                <a:ea typeface="Cambria" pitchFamily="34" charset="-122"/>
                <a:cs typeface="Cambria" pitchFamily="34" charset="-120"/>
              </a:rPr>
              <a:t>The estimator the field uses is wrong by 72 percent</a:t>
            </a:r>
            <a:endParaRPr lang="en-US" sz="3400" dirty="0"/>
          </a:p>
        </p:txBody>
      </p:sp>
      <p:sp>
        <p:nvSpPr>
          <p:cNvPr id="3" name="Text 1"/>
          <p:cNvSpPr/>
          <p:nvPr/>
        </p:nvSpPr>
        <p:spPr>
          <a:xfrm>
            <a:off x="658368" y="1042416"/>
            <a:ext cx="10844784" cy="384048"/>
          </a:xfrm>
          <a:prstGeom prst="rect">
            <a:avLst/>
          </a:prstGeom>
          <a:noFill/>
          <a:ln/>
        </p:spPr>
        <p:txBody>
          <a:bodyPr wrap="square" lIns="0" tIns="0" rIns="0" bIns="0" rtlCol="0" anchor="ctr"/>
          <a:lstStyle/>
          <a:p>
            <a:pPr indent="0" marL="0">
              <a:buNone/>
            </a:pPr>
            <a:r>
              <a:rPr lang="en-US" sz="1450" dirty="0">
                <a:solidFill>
                  <a:srgbClr val="4A5E72"/>
                </a:solidFill>
                <a:latin typeface="Calibri" pitchFamily="34" charset="0"/>
                <a:ea typeface="Calibri" pitchFamily="34" charset="-122"/>
                <a:cs typeface="Calibri" pitchFamily="34" charset="-120"/>
              </a:rPr>
              <a:t>Half of all exits are not adoptions. Treating a transfer as censoring assumes the animal is still waiting to be adopted.</a:t>
            </a:r>
            <a:endParaRPr lang="en-US" sz="1450" dirty="0"/>
          </a:p>
        </p:txBody>
      </p:sp>
      <p:pic>
        <p:nvPicPr>
          <p:cNvPr id="4" name="Image 0" descr="/home/claude/secondchance/results/figures/fig03_estimator_comparison.png">    </p:cNvPr>
          <p:cNvPicPr>
            <a:picLocks noChangeAspect="1"/>
          </p:cNvPicPr>
          <p:nvPr/>
        </p:nvPicPr>
        <p:blipFill>
          <a:blip r:embed="rId1"/>
          <a:stretch>
            <a:fillRect/>
          </a:stretch>
        </p:blipFill>
        <p:spPr>
          <a:xfrm>
            <a:off x="658368" y="1737360"/>
            <a:ext cx="7223760" cy="3035808"/>
          </a:xfrm>
          <a:prstGeom prst="rect">
            <a:avLst/>
          </a:prstGeom>
        </p:spPr>
      </p:pic>
      <p:sp>
        <p:nvSpPr>
          <p:cNvPr id="5" name="Shape 2"/>
          <p:cNvSpPr/>
          <p:nvPr/>
        </p:nvSpPr>
        <p:spPr>
          <a:xfrm>
            <a:off x="8138160" y="1737360"/>
            <a:ext cx="3383280" cy="3035808"/>
          </a:xfrm>
          <a:prstGeom prst="roundRect">
            <a:avLst>
              <a:gd name="adj" fmla="val 1807"/>
            </a:avLst>
          </a:prstGeom>
          <a:solidFill>
            <a:srgbClr val="102A43"/>
          </a:solidFill>
          <a:ln w="12700">
            <a:solidFill>
              <a:srgbClr val="DCE3E9"/>
            </a:solidFill>
            <a:prstDash val="solid"/>
          </a:ln>
          <a:effectLst>
            <a:outerShdw sx="100000" sy="100000" kx="0" ky="0" algn="bl" rotWithShape="0" blurRad="101600" dist="12700" dir="5400000">
              <a:srgbClr val="9AA9B8">
                <a:alpha val="16000"/>
              </a:srgbClr>
            </a:outerShdw>
          </a:effectLst>
        </p:spPr>
      </p:sp>
      <p:sp>
        <p:nvSpPr>
          <p:cNvPr id="6" name="Text 3"/>
          <p:cNvSpPr/>
          <p:nvPr/>
        </p:nvSpPr>
        <p:spPr>
          <a:xfrm>
            <a:off x="8412480" y="1883664"/>
            <a:ext cx="2834640" cy="320040"/>
          </a:xfrm>
          <a:prstGeom prst="rect">
            <a:avLst/>
          </a:prstGeom>
          <a:noFill/>
          <a:ln/>
        </p:spPr>
        <p:txBody>
          <a:bodyPr wrap="square" lIns="0" tIns="0" rIns="0" bIns="0" rtlCol="0" anchor="ctr"/>
          <a:lstStyle/>
          <a:p>
            <a:pPr indent="0" marL="0">
              <a:buNone/>
            </a:pPr>
            <a:r>
              <a:rPr lang="en-US" sz="1250" dirty="0">
                <a:solidFill>
                  <a:srgbClr val="9FD9C4"/>
                </a:solidFill>
                <a:latin typeface="Calibri" pitchFamily="34" charset="0"/>
                <a:ea typeface="Calibri" pitchFamily="34" charset="-122"/>
                <a:cs typeface="Calibri" pitchFamily="34" charset="-120"/>
              </a:rPr>
              <a:t>At one year</a:t>
            </a:r>
            <a:endParaRPr lang="en-US" sz="1250" dirty="0"/>
          </a:p>
        </p:txBody>
      </p:sp>
      <p:sp>
        <p:nvSpPr>
          <p:cNvPr id="7" name="Text 4"/>
          <p:cNvSpPr/>
          <p:nvPr/>
        </p:nvSpPr>
        <p:spPr>
          <a:xfrm>
            <a:off x="8412480" y="2212848"/>
            <a:ext cx="2834640" cy="658368"/>
          </a:xfrm>
          <a:prstGeom prst="rect">
            <a:avLst/>
          </a:prstGeom>
          <a:noFill/>
          <a:ln/>
        </p:spPr>
        <p:txBody>
          <a:bodyPr wrap="square" lIns="0" tIns="0" rIns="0" bIns="0" rtlCol="0" anchor="ctr"/>
          <a:lstStyle/>
          <a:p>
            <a:pPr indent="0" marL="0">
              <a:buNone/>
            </a:pPr>
            <a:r>
              <a:rPr lang="en-US" sz="4000" b="1" dirty="0">
                <a:solidFill>
                  <a:srgbClr val="E8944A"/>
                </a:solidFill>
                <a:latin typeface="Cambria" pitchFamily="34" charset="0"/>
                <a:ea typeface="Cambria" pitchFamily="34" charset="-122"/>
                <a:cs typeface="Cambria" pitchFamily="34" charset="-120"/>
              </a:rPr>
              <a:t>98.8%</a:t>
            </a:r>
            <a:endParaRPr lang="en-US" sz="4000" dirty="0"/>
          </a:p>
        </p:txBody>
      </p:sp>
      <p:sp>
        <p:nvSpPr>
          <p:cNvPr id="8" name="Text 5"/>
          <p:cNvSpPr/>
          <p:nvPr/>
        </p:nvSpPr>
        <p:spPr>
          <a:xfrm>
            <a:off x="8412480" y="2834640"/>
            <a:ext cx="2834640" cy="292608"/>
          </a:xfrm>
          <a:prstGeom prst="rect">
            <a:avLst/>
          </a:prstGeom>
          <a:noFill/>
          <a:ln/>
        </p:spPr>
        <p:txBody>
          <a:bodyPr wrap="square" lIns="0" tIns="0" rIns="0" bIns="0" rtlCol="0" anchor="ctr"/>
          <a:lstStyle/>
          <a:p>
            <a:pPr indent="0" marL="0">
              <a:buNone/>
            </a:pPr>
            <a:r>
              <a:rPr lang="en-US" sz="1100" dirty="0">
                <a:solidFill>
                  <a:srgbClr val="AFC6D9"/>
                </a:solidFill>
                <a:latin typeface="Calibri" pitchFamily="34" charset="0"/>
                <a:ea typeface="Calibri" pitchFamily="34" charset="-122"/>
                <a:cs typeface="Calibri" pitchFamily="34" charset="-120"/>
              </a:rPr>
              <a:t>what Kaplan-Meier says</a:t>
            </a:r>
            <a:endParaRPr lang="en-US" sz="1100" dirty="0"/>
          </a:p>
        </p:txBody>
      </p:sp>
      <p:sp>
        <p:nvSpPr>
          <p:cNvPr id="9" name="Text 6"/>
          <p:cNvSpPr/>
          <p:nvPr/>
        </p:nvSpPr>
        <p:spPr>
          <a:xfrm>
            <a:off x="8412480" y="3310128"/>
            <a:ext cx="2834640" cy="658368"/>
          </a:xfrm>
          <a:prstGeom prst="rect">
            <a:avLst/>
          </a:prstGeom>
          <a:noFill/>
          <a:ln/>
        </p:spPr>
        <p:txBody>
          <a:bodyPr wrap="square" lIns="0" tIns="0" rIns="0" bIns="0" rtlCol="0" anchor="ctr"/>
          <a:lstStyle/>
          <a:p>
            <a:pPr indent="0" marL="0">
              <a:buNone/>
            </a:pPr>
            <a:r>
              <a:rPr lang="en-US" sz="4000" b="1" dirty="0">
                <a:solidFill>
                  <a:srgbClr val="14A67C"/>
                </a:solidFill>
                <a:latin typeface="Cambria" pitchFamily="34" charset="0"/>
                <a:ea typeface="Cambria" pitchFamily="34" charset="-122"/>
                <a:cs typeface="Cambria" pitchFamily="34" charset="-120"/>
              </a:rPr>
              <a:t>48.3%</a:t>
            </a:r>
            <a:endParaRPr lang="en-US" sz="4000" dirty="0"/>
          </a:p>
        </p:txBody>
      </p:sp>
      <p:sp>
        <p:nvSpPr>
          <p:cNvPr id="10" name="Text 7"/>
          <p:cNvSpPr/>
          <p:nvPr/>
        </p:nvSpPr>
        <p:spPr>
          <a:xfrm>
            <a:off x="8412480" y="3931920"/>
            <a:ext cx="2834640" cy="292608"/>
          </a:xfrm>
          <a:prstGeom prst="rect">
            <a:avLst/>
          </a:prstGeom>
          <a:noFill/>
          <a:ln/>
        </p:spPr>
        <p:txBody>
          <a:bodyPr wrap="square" lIns="0" tIns="0" rIns="0" bIns="0" rtlCol="0" anchor="ctr"/>
          <a:lstStyle/>
          <a:p>
            <a:pPr indent="0" marL="0">
              <a:buNone/>
            </a:pPr>
            <a:r>
              <a:rPr lang="en-US" sz="1100" dirty="0">
                <a:solidFill>
                  <a:srgbClr val="AFC6D9"/>
                </a:solidFill>
                <a:latin typeface="Calibri" pitchFamily="34" charset="0"/>
                <a:ea typeface="Calibri" pitchFamily="34" charset="-122"/>
                <a:cs typeface="Calibri" pitchFamily="34" charset="-120"/>
              </a:rPr>
              <a:t>what actually happens</a:t>
            </a:r>
            <a:endParaRPr lang="en-US" sz="1100" dirty="0"/>
          </a:p>
        </p:txBody>
      </p:sp>
      <p:sp>
        <p:nvSpPr>
          <p:cNvPr id="11" name="Text 8"/>
          <p:cNvSpPr/>
          <p:nvPr/>
        </p:nvSpPr>
        <p:spPr>
          <a:xfrm>
            <a:off x="8412480" y="4279392"/>
            <a:ext cx="2834640" cy="457200"/>
          </a:xfrm>
          <a:prstGeom prst="rect">
            <a:avLst/>
          </a:prstGeom>
          <a:noFill/>
          <a:ln/>
        </p:spPr>
        <p:txBody>
          <a:bodyPr wrap="square" lIns="0" tIns="0" rIns="0" bIns="0" rtlCol="0" anchor="ctr"/>
          <a:lstStyle/>
          <a:p>
            <a:pPr indent="0" marL="0">
              <a:lnSpc>
                <a:spcPts val="1500"/>
              </a:lnSpc>
              <a:buNone/>
            </a:pPr>
            <a:r>
              <a:rPr lang="en-US" sz="1100" i="1" dirty="0">
                <a:solidFill>
                  <a:srgbClr val="FFFFFF"/>
                </a:solidFill>
                <a:latin typeface="Calibri" pitchFamily="34" charset="0"/>
                <a:ea typeface="Calibri" pitchFamily="34" charset="-122"/>
                <a:cs typeface="Calibri" pitchFamily="34" charset="-120"/>
              </a:rPr>
              <a:t>Fewer than half of all arrivals are ever adopted from this building.</a:t>
            </a:r>
            <a:endParaRPr lang="en-US" sz="1100" dirty="0"/>
          </a:p>
        </p:txBody>
      </p:sp>
      <p:sp>
        <p:nvSpPr>
          <p:cNvPr id="12" name="Text 9"/>
          <p:cNvSpPr/>
          <p:nvPr/>
        </p:nvSpPr>
        <p:spPr>
          <a:xfrm>
            <a:off x="658368" y="4956048"/>
            <a:ext cx="10881360" cy="502920"/>
          </a:xfrm>
          <a:prstGeom prst="rect">
            <a:avLst/>
          </a:prstGeom>
          <a:noFill/>
          <a:ln/>
        </p:spPr>
        <p:txBody>
          <a:bodyPr wrap="square" lIns="0" tIns="0" rIns="0" bIns="0" rtlCol="0" anchor="ctr"/>
          <a:lstStyle/>
          <a:p>
            <a:pPr indent="0" marL="0">
              <a:buNone/>
            </a:pPr>
            <a:r>
              <a:rPr lang="en-US" sz="1300" dirty="0">
                <a:solidFill>
                  <a:srgbClr val="4A5E72"/>
                </a:solidFill>
                <a:latin typeface="Calibri" pitchFamily="34" charset="0"/>
                <a:ea typeface="Calibri" pitchFamily="34" charset="-122"/>
                <a:cs typeface="Calibri" pitchFamily="34" charset="-120"/>
              </a:rPr>
              <a:t>Same error per prediction: our survival model without the correction predicts a mean 30-day adoption probability of 0.638. With it, 0.403. Observed: 0.372.</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658368" y="384048"/>
            <a:ext cx="10844784" cy="566928"/>
          </a:xfrm>
          <a:prstGeom prst="rect">
            <a:avLst/>
          </a:prstGeom>
          <a:noFill/>
          <a:ln/>
        </p:spPr>
        <p:txBody>
          <a:bodyPr wrap="square" lIns="0" tIns="0" rIns="0" bIns="0" rtlCol="0" anchor="t"/>
          <a:lstStyle/>
          <a:p>
            <a:pPr indent="0" marL="0">
              <a:buNone/>
            </a:pPr>
            <a:r>
              <a:rPr lang="en-US" sz="3400" b="1" dirty="0">
                <a:solidFill>
                  <a:srgbClr val="0F1B2A"/>
                </a:solidFill>
                <a:latin typeface="Cambria" pitchFamily="34" charset="0"/>
                <a:ea typeface="Cambria" pitchFamily="34" charset="-122"/>
                <a:cs typeface="Cambria" pitchFamily="34" charset="-120"/>
              </a:rPr>
              <a:t>Calibrated, and tested on animals the model never saw</a:t>
            </a:r>
            <a:endParaRPr lang="en-US" sz="3400" dirty="0"/>
          </a:p>
        </p:txBody>
      </p:sp>
      <p:sp>
        <p:nvSpPr>
          <p:cNvPr id="3" name="Text 1"/>
          <p:cNvSpPr/>
          <p:nvPr/>
        </p:nvSpPr>
        <p:spPr>
          <a:xfrm>
            <a:off x="658368" y="1042416"/>
            <a:ext cx="10844784" cy="384048"/>
          </a:xfrm>
          <a:prstGeom prst="rect">
            <a:avLst/>
          </a:prstGeom>
          <a:noFill/>
          <a:ln/>
        </p:spPr>
        <p:txBody>
          <a:bodyPr wrap="square" lIns="0" tIns="0" rIns="0" bIns="0" rtlCol="0" anchor="ctr"/>
          <a:lstStyle/>
          <a:p>
            <a:pPr indent="0" marL="0">
              <a:buNone/>
            </a:pPr>
            <a:r>
              <a:rPr lang="en-US" sz="1450" dirty="0">
                <a:solidFill>
                  <a:srgbClr val="4A5E72"/>
                </a:solidFill>
                <a:latin typeface="Calibri" pitchFamily="34" charset="0"/>
                <a:ea typeface="Calibri" pitchFamily="34" charset="-122"/>
                <a:cs typeface="Calibri" pitchFamily="34" charset="-120"/>
              </a:rPr>
              <a:t>Train through 2018, calibrate on 2019, test on 2020 to 2022. The split spans a known operational discontinuity on purpose.</a:t>
            </a:r>
            <a:endParaRPr lang="en-US" sz="1450" dirty="0"/>
          </a:p>
        </p:txBody>
      </p:sp>
      <p:pic>
        <p:nvPicPr>
          <p:cNvPr id="4" name="Image 0" descr="/home/claude/secondchance/results/figures/fig05_model_comparison.png">    </p:cNvPr>
          <p:cNvPicPr>
            <a:picLocks noChangeAspect="1"/>
          </p:cNvPicPr>
          <p:nvPr/>
        </p:nvPicPr>
        <p:blipFill>
          <a:blip r:embed="rId1"/>
          <a:stretch>
            <a:fillRect/>
          </a:stretch>
        </p:blipFill>
        <p:spPr>
          <a:xfrm>
            <a:off x="658368" y="1737360"/>
            <a:ext cx="6949440" cy="3310128"/>
          </a:xfrm>
          <a:prstGeom prst="rect">
            <a:avLst/>
          </a:prstGeom>
        </p:spPr>
      </p:pic>
      <p:sp>
        <p:nvSpPr>
          <p:cNvPr id="5" name="Shape 2"/>
          <p:cNvSpPr/>
          <p:nvPr/>
        </p:nvSpPr>
        <p:spPr>
          <a:xfrm>
            <a:off x="7909560" y="1783080"/>
            <a:ext cx="3611880" cy="1024128"/>
          </a:xfrm>
          <a:prstGeom prst="roundRect">
            <a:avLst>
              <a:gd name="adj" fmla="val 5357"/>
            </a:avLst>
          </a:prstGeom>
          <a:solidFill>
            <a:srgbClr val="FFFFFF"/>
          </a:solidFill>
          <a:ln w="12700">
            <a:solidFill>
              <a:srgbClr val="DCE3E9"/>
            </a:solidFill>
            <a:prstDash val="solid"/>
          </a:ln>
          <a:effectLst>
            <a:outerShdw sx="100000" sy="100000" kx="0" ky="0" algn="bl" rotWithShape="0" blurRad="101600" dist="12700" dir="5400000">
              <a:srgbClr val="9AA9B8">
                <a:alpha val="16000"/>
              </a:srgbClr>
            </a:outerShdw>
          </a:effectLst>
        </p:spPr>
      </p:sp>
      <p:sp>
        <p:nvSpPr>
          <p:cNvPr id="6" name="Text 3"/>
          <p:cNvSpPr/>
          <p:nvPr/>
        </p:nvSpPr>
        <p:spPr>
          <a:xfrm>
            <a:off x="8183880" y="1892808"/>
            <a:ext cx="1371600" cy="640080"/>
          </a:xfrm>
          <a:prstGeom prst="rect">
            <a:avLst/>
          </a:prstGeom>
          <a:noFill/>
          <a:ln/>
        </p:spPr>
        <p:txBody>
          <a:bodyPr wrap="square" lIns="0" tIns="0" rIns="0" bIns="0" rtlCol="0" anchor="ctr"/>
          <a:lstStyle/>
          <a:p>
            <a:pPr indent="0" marL="0">
              <a:buNone/>
            </a:pPr>
            <a:r>
              <a:rPr lang="en-US" sz="3000" b="1" dirty="0">
                <a:solidFill>
                  <a:srgbClr val="0E7C5C"/>
                </a:solidFill>
                <a:latin typeface="Cambria" pitchFamily="34" charset="0"/>
                <a:ea typeface="Cambria" pitchFamily="34" charset="-122"/>
                <a:cs typeface="Cambria" pitchFamily="34" charset="-120"/>
              </a:rPr>
              <a:t>0.803</a:t>
            </a:r>
            <a:endParaRPr lang="en-US" sz="3000" dirty="0"/>
          </a:p>
        </p:txBody>
      </p:sp>
      <p:sp>
        <p:nvSpPr>
          <p:cNvPr id="7" name="Text 4"/>
          <p:cNvSpPr/>
          <p:nvPr/>
        </p:nvSpPr>
        <p:spPr>
          <a:xfrm>
            <a:off x="9509760" y="1892808"/>
            <a:ext cx="1874520" cy="822960"/>
          </a:xfrm>
          <a:prstGeom prst="rect">
            <a:avLst/>
          </a:prstGeom>
          <a:noFill/>
          <a:ln/>
        </p:spPr>
        <p:txBody>
          <a:bodyPr wrap="square" lIns="0" tIns="0" rIns="0" bIns="0" rtlCol="0" anchor="ctr"/>
          <a:lstStyle/>
          <a:p>
            <a:pPr indent="0" marL="0">
              <a:lnSpc>
                <a:spcPts val="1300"/>
              </a:lnSpc>
              <a:buNone/>
            </a:pPr>
            <a:r>
              <a:rPr lang="en-US" sz="1050" dirty="0">
                <a:solidFill>
                  <a:srgbClr val="4A5E72"/>
                </a:solidFill>
                <a:latin typeface="Calibri" pitchFamily="34" charset="0"/>
                <a:ea typeface="Calibri" pitchFamily="34" charset="-122"/>
                <a:cs typeface="Calibri" pitchFamily="34" charset="-120"/>
              </a:rPr>
              <a:t>held-out AUC,</a:t>
            </a:r>
            <a:endParaRPr lang="en-US" sz="1050" dirty="0"/>
          </a:p>
          <a:p>
            <a:pPr indent="0" marL="0">
              <a:lnSpc>
                <a:spcPts val="1300"/>
              </a:lnSpc>
              <a:buNone/>
            </a:pPr>
            <a:r>
              <a:rPr lang="en-US" sz="1050" dirty="0">
                <a:solidFill>
                  <a:srgbClr val="4A5E72"/>
                </a:solidFill>
                <a:latin typeface="Calibri" pitchFamily="34" charset="0"/>
                <a:ea typeface="Calibri" pitchFamily="34" charset="-122"/>
                <a:cs typeface="Calibri" pitchFamily="34" charset="-120"/>
              </a:rPr>
              <a:t>30-day adoption</a:t>
            </a:r>
            <a:endParaRPr lang="en-US" sz="1050" dirty="0"/>
          </a:p>
        </p:txBody>
      </p:sp>
      <p:sp>
        <p:nvSpPr>
          <p:cNvPr id="8" name="Shape 5"/>
          <p:cNvSpPr/>
          <p:nvPr/>
        </p:nvSpPr>
        <p:spPr>
          <a:xfrm>
            <a:off x="7909560" y="2944368"/>
            <a:ext cx="3611880" cy="1024128"/>
          </a:xfrm>
          <a:prstGeom prst="roundRect">
            <a:avLst>
              <a:gd name="adj" fmla="val 5357"/>
            </a:avLst>
          </a:prstGeom>
          <a:solidFill>
            <a:srgbClr val="FFFFFF"/>
          </a:solidFill>
          <a:ln w="12700">
            <a:solidFill>
              <a:srgbClr val="DCE3E9"/>
            </a:solidFill>
            <a:prstDash val="solid"/>
          </a:ln>
          <a:effectLst>
            <a:outerShdw sx="100000" sy="100000" kx="0" ky="0" algn="bl" rotWithShape="0" blurRad="101600" dist="12700" dir="5400000">
              <a:srgbClr val="9AA9B8">
                <a:alpha val="16000"/>
              </a:srgbClr>
            </a:outerShdw>
          </a:effectLst>
        </p:spPr>
      </p:sp>
      <p:sp>
        <p:nvSpPr>
          <p:cNvPr id="9" name="Text 6"/>
          <p:cNvSpPr/>
          <p:nvPr/>
        </p:nvSpPr>
        <p:spPr>
          <a:xfrm>
            <a:off x="8183880" y="3054096"/>
            <a:ext cx="1371600" cy="640080"/>
          </a:xfrm>
          <a:prstGeom prst="rect">
            <a:avLst/>
          </a:prstGeom>
          <a:noFill/>
          <a:ln/>
        </p:spPr>
        <p:txBody>
          <a:bodyPr wrap="square" lIns="0" tIns="0" rIns="0" bIns="0" rtlCol="0" anchor="ctr"/>
          <a:lstStyle/>
          <a:p>
            <a:pPr indent="0" marL="0">
              <a:buNone/>
            </a:pPr>
            <a:r>
              <a:rPr lang="en-US" sz="3000" b="1" dirty="0">
                <a:solidFill>
                  <a:srgbClr val="0E7C5C"/>
                </a:solidFill>
                <a:latin typeface="Cambria" pitchFamily="34" charset="0"/>
                <a:ea typeface="Cambria" pitchFamily="34" charset="-122"/>
                <a:cs typeface="Cambria" pitchFamily="34" charset="-120"/>
              </a:rPr>
              <a:t>0.023</a:t>
            </a:r>
            <a:endParaRPr lang="en-US" sz="3000" dirty="0"/>
          </a:p>
        </p:txBody>
      </p:sp>
      <p:sp>
        <p:nvSpPr>
          <p:cNvPr id="10" name="Text 7"/>
          <p:cNvSpPr/>
          <p:nvPr/>
        </p:nvSpPr>
        <p:spPr>
          <a:xfrm>
            <a:off x="9509760" y="3054096"/>
            <a:ext cx="1874520" cy="822960"/>
          </a:xfrm>
          <a:prstGeom prst="rect">
            <a:avLst/>
          </a:prstGeom>
          <a:noFill/>
          <a:ln/>
        </p:spPr>
        <p:txBody>
          <a:bodyPr wrap="square" lIns="0" tIns="0" rIns="0" bIns="0" rtlCol="0" anchor="ctr"/>
          <a:lstStyle/>
          <a:p>
            <a:pPr indent="0" marL="0">
              <a:lnSpc>
                <a:spcPts val="1300"/>
              </a:lnSpc>
              <a:buNone/>
            </a:pPr>
            <a:r>
              <a:rPr lang="en-US" sz="1050" dirty="0">
                <a:solidFill>
                  <a:srgbClr val="4A5E72"/>
                </a:solidFill>
                <a:latin typeface="Calibri" pitchFamily="34" charset="0"/>
                <a:ea typeface="Calibri" pitchFamily="34" charset="-122"/>
                <a:cs typeface="Calibri" pitchFamily="34" charset="-120"/>
              </a:rPr>
              <a:t>expected calibration error</a:t>
            </a:r>
            <a:endParaRPr lang="en-US" sz="1050" dirty="0"/>
          </a:p>
          <a:p>
            <a:pPr indent="0" marL="0">
              <a:lnSpc>
                <a:spcPts val="1300"/>
              </a:lnSpc>
              <a:buNone/>
            </a:pPr>
            <a:r>
              <a:rPr lang="en-US" sz="1050" dirty="0">
                <a:solidFill>
                  <a:srgbClr val="4A5E72"/>
                </a:solidFill>
                <a:latin typeface="Calibri" pitchFamily="34" charset="0"/>
                <a:ea typeface="Calibri" pitchFamily="34" charset="-122"/>
                <a:cs typeface="Calibri" pitchFamily="34" charset="-120"/>
              </a:rPr>
              <a:t>(the score means what it says)</a:t>
            </a:r>
            <a:endParaRPr lang="en-US" sz="1050" dirty="0"/>
          </a:p>
        </p:txBody>
      </p:sp>
      <p:sp>
        <p:nvSpPr>
          <p:cNvPr id="11" name="Shape 8"/>
          <p:cNvSpPr/>
          <p:nvPr/>
        </p:nvSpPr>
        <p:spPr>
          <a:xfrm>
            <a:off x="7909560" y="4105656"/>
            <a:ext cx="3611880" cy="1024128"/>
          </a:xfrm>
          <a:prstGeom prst="roundRect">
            <a:avLst>
              <a:gd name="adj" fmla="val 5357"/>
            </a:avLst>
          </a:prstGeom>
          <a:solidFill>
            <a:srgbClr val="FFFFFF"/>
          </a:solidFill>
          <a:ln w="12700">
            <a:solidFill>
              <a:srgbClr val="DCE3E9"/>
            </a:solidFill>
            <a:prstDash val="solid"/>
          </a:ln>
          <a:effectLst>
            <a:outerShdw sx="100000" sy="100000" kx="0" ky="0" algn="bl" rotWithShape="0" blurRad="101600" dist="12700" dir="5400000">
              <a:srgbClr val="9AA9B8">
                <a:alpha val="16000"/>
              </a:srgbClr>
            </a:outerShdw>
          </a:effectLst>
        </p:spPr>
      </p:sp>
      <p:sp>
        <p:nvSpPr>
          <p:cNvPr id="12" name="Text 9"/>
          <p:cNvSpPr/>
          <p:nvPr/>
        </p:nvSpPr>
        <p:spPr>
          <a:xfrm>
            <a:off x="8183880" y="4215384"/>
            <a:ext cx="1371600" cy="640080"/>
          </a:xfrm>
          <a:prstGeom prst="rect">
            <a:avLst/>
          </a:prstGeom>
          <a:noFill/>
          <a:ln/>
        </p:spPr>
        <p:txBody>
          <a:bodyPr wrap="square" lIns="0" tIns="0" rIns="0" bIns="0" rtlCol="0" anchor="ctr"/>
          <a:lstStyle/>
          <a:p>
            <a:pPr indent="0" marL="0">
              <a:buNone/>
            </a:pPr>
            <a:r>
              <a:rPr lang="en-US" sz="3000" b="1" dirty="0">
                <a:solidFill>
                  <a:srgbClr val="102A43"/>
                </a:solidFill>
                <a:latin typeface="Cambria" pitchFamily="34" charset="0"/>
                <a:ea typeface="Cambria" pitchFamily="34" charset="-122"/>
                <a:cs typeface="Cambria" pitchFamily="34" charset="-120"/>
              </a:rPr>
              <a:t>4.2×</a:t>
            </a:r>
            <a:endParaRPr lang="en-US" sz="3000" dirty="0"/>
          </a:p>
        </p:txBody>
      </p:sp>
      <p:sp>
        <p:nvSpPr>
          <p:cNvPr id="13" name="Text 10"/>
          <p:cNvSpPr/>
          <p:nvPr/>
        </p:nvSpPr>
        <p:spPr>
          <a:xfrm>
            <a:off x="9509760" y="4215384"/>
            <a:ext cx="1874520" cy="822960"/>
          </a:xfrm>
          <a:prstGeom prst="rect">
            <a:avLst/>
          </a:prstGeom>
          <a:noFill/>
          <a:ln/>
        </p:spPr>
        <p:txBody>
          <a:bodyPr wrap="square" lIns="0" tIns="0" rIns="0" bIns="0" rtlCol="0" anchor="ctr"/>
          <a:lstStyle/>
          <a:p>
            <a:pPr indent="0" marL="0">
              <a:lnSpc>
                <a:spcPts val="1300"/>
              </a:lnSpc>
              <a:buNone/>
            </a:pPr>
            <a:r>
              <a:rPr lang="en-US" sz="1050" dirty="0">
                <a:solidFill>
                  <a:srgbClr val="4A5E72"/>
                </a:solidFill>
                <a:latin typeface="Calibri" pitchFamily="34" charset="0"/>
                <a:ea typeface="Calibri" pitchFamily="34" charset="-122"/>
                <a:cs typeface="Calibri" pitchFamily="34" charset="-120"/>
              </a:rPr>
              <a:t>better than chance in the</a:t>
            </a:r>
            <a:endParaRPr lang="en-US" sz="1050" dirty="0"/>
          </a:p>
          <a:p>
            <a:pPr indent="0" marL="0">
              <a:lnSpc>
                <a:spcPts val="1300"/>
              </a:lnSpc>
              <a:buNone/>
            </a:pPr>
            <a:r>
              <a:rPr lang="en-US" sz="1050" dirty="0">
                <a:solidFill>
                  <a:srgbClr val="4A5E72"/>
                </a:solidFill>
                <a:latin typeface="Calibri" pitchFamily="34" charset="0"/>
                <a:ea typeface="Calibri" pitchFamily="34" charset="-122"/>
                <a:cs typeface="Calibri" pitchFamily="34" charset="-120"/>
              </a:rPr>
              <a:t>top 50 of the long-stay queue</a:t>
            </a:r>
            <a:endParaRPr lang="en-US" sz="1050" dirty="0"/>
          </a:p>
        </p:txBody>
      </p:sp>
      <p:sp>
        <p:nvSpPr>
          <p:cNvPr id="14" name="Text 11"/>
          <p:cNvSpPr/>
          <p:nvPr/>
        </p:nvSpPr>
        <p:spPr>
          <a:xfrm>
            <a:off x="7909560" y="5230368"/>
            <a:ext cx="3611880" cy="548640"/>
          </a:xfrm>
          <a:prstGeom prst="rect">
            <a:avLst/>
          </a:prstGeom>
          <a:noFill/>
          <a:ln/>
        </p:spPr>
        <p:txBody>
          <a:bodyPr wrap="square" lIns="0" tIns="0" rIns="0" bIns="0" rtlCol="0" anchor="ctr"/>
          <a:lstStyle/>
          <a:p>
            <a:pPr indent="0" marL="0">
              <a:lnSpc>
                <a:spcPts val="1400"/>
              </a:lnSpc>
              <a:buNone/>
            </a:pPr>
            <a:r>
              <a:rPr lang="en-US" sz="1100" i="1" dirty="0">
                <a:solidFill>
                  <a:srgbClr val="8195A8"/>
                </a:solidFill>
                <a:latin typeface="Calibri" pitchFamily="34" charset="0"/>
                <a:ea typeface="Calibri" pitchFamily="34" charset="-122"/>
                <a:cs typeface="Calibri" pitchFamily="34" charset="-120"/>
              </a:rPr>
              <a:t>48 percent of the model's top 50 really did stay past 60 days, against a base rate of 11.6 percent.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658368" y="384048"/>
            <a:ext cx="10844784" cy="566928"/>
          </a:xfrm>
          <a:prstGeom prst="rect">
            <a:avLst/>
          </a:prstGeom>
          <a:noFill/>
          <a:ln/>
        </p:spPr>
        <p:txBody>
          <a:bodyPr wrap="square" lIns="0" tIns="0" rIns="0" bIns="0" rtlCol="0" anchor="t"/>
          <a:lstStyle/>
          <a:p>
            <a:pPr indent="0" marL="0">
              <a:buNone/>
            </a:pPr>
            <a:r>
              <a:rPr lang="en-US" sz="3400" b="1" dirty="0">
                <a:solidFill>
                  <a:srgbClr val="0F1B2A"/>
                </a:solidFill>
                <a:latin typeface="Cambria" pitchFamily="34" charset="0"/>
                <a:ea typeface="Cambria" pitchFamily="34" charset="-122"/>
                <a:cs typeface="Cambria" pitchFamily="34" charset="-120"/>
              </a:rPr>
              <a:t>The language model earned its place on one target</a:t>
            </a:r>
            <a:endParaRPr lang="en-US" sz="3400" dirty="0"/>
          </a:p>
        </p:txBody>
      </p:sp>
      <p:sp>
        <p:nvSpPr>
          <p:cNvPr id="3" name="Text 1"/>
          <p:cNvSpPr/>
          <p:nvPr/>
        </p:nvSpPr>
        <p:spPr>
          <a:xfrm>
            <a:off x="658368" y="1042416"/>
            <a:ext cx="10844784" cy="384048"/>
          </a:xfrm>
          <a:prstGeom prst="rect">
            <a:avLst/>
          </a:prstGeom>
          <a:noFill/>
          <a:ln/>
        </p:spPr>
        <p:txBody>
          <a:bodyPr wrap="square" lIns="0" tIns="0" rIns="0" bIns="0" rtlCol="0" anchor="ctr"/>
          <a:lstStyle/>
          <a:p>
            <a:pPr indent="0" marL="0">
              <a:buNone/>
            </a:pPr>
            <a:r>
              <a:rPr lang="en-US" sz="1450" dirty="0">
                <a:solidFill>
                  <a:srgbClr val="4A5E72"/>
                </a:solidFill>
                <a:latin typeface="Calibri" pitchFamily="34" charset="0"/>
                <a:ea typeface="Calibri" pitchFamily="34" charset="-122"/>
                <a:cs typeface="Calibri" pitchFamily="34" charset="-120"/>
              </a:rPr>
              <a:t>2,736 free-text breed strings collapse to 254 atomic tokens. Claude labels each once with eleven structured attributes.</a:t>
            </a:r>
            <a:endParaRPr lang="en-US" sz="1450" dirty="0"/>
          </a:p>
        </p:txBody>
      </p:sp>
      <p:pic>
        <p:nvPicPr>
          <p:cNvPr id="4" name="Image 0" descr="/home/claude/secondchance/results/figures/fig08_breed_strategy.png">    </p:cNvPr>
          <p:cNvPicPr>
            <a:picLocks noChangeAspect="1"/>
          </p:cNvPicPr>
          <p:nvPr/>
        </p:nvPicPr>
        <p:blipFill>
          <a:blip r:embed="rId1"/>
          <a:stretch>
            <a:fillRect/>
          </a:stretch>
        </p:blipFill>
        <p:spPr>
          <a:xfrm>
            <a:off x="658368" y="1737360"/>
            <a:ext cx="6309360" cy="3310128"/>
          </a:xfrm>
          <a:prstGeom prst="rect">
            <a:avLst/>
          </a:prstGeom>
        </p:spPr>
      </p:pic>
      <p:sp>
        <p:nvSpPr>
          <p:cNvPr id="5" name="Shape 2"/>
          <p:cNvSpPr/>
          <p:nvPr/>
        </p:nvSpPr>
        <p:spPr>
          <a:xfrm>
            <a:off x="7223760" y="1783080"/>
            <a:ext cx="4297680" cy="1481328"/>
          </a:xfrm>
          <a:prstGeom prst="roundRect">
            <a:avLst>
              <a:gd name="adj" fmla="val 3704"/>
            </a:avLst>
          </a:prstGeom>
          <a:solidFill>
            <a:srgbClr val="F1F8F5"/>
          </a:solidFill>
          <a:ln w="12700">
            <a:solidFill>
              <a:srgbClr val="DCE3E9"/>
            </a:solidFill>
            <a:prstDash val="solid"/>
          </a:ln>
          <a:effectLst>
            <a:outerShdw sx="100000" sy="100000" kx="0" ky="0" algn="bl" rotWithShape="0" blurRad="101600" dist="12700" dir="5400000">
              <a:srgbClr val="9AA9B8">
                <a:alpha val="16000"/>
              </a:srgbClr>
            </a:outerShdw>
          </a:effectLst>
        </p:spPr>
      </p:sp>
      <p:sp>
        <p:nvSpPr>
          <p:cNvPr id="6" name="Text 3"/>
          <p:cNvSpPr/>
          <p:nvPr/>
        </p:nvSpPr>
        <p:spPr>
          <a:xfrm>
            <a:off x="7498080" y="1920240"/>
            <a:ext cx="3749040" cy="292608"/>
          </a:xfrm>
          <a:prstGeom prst="rect">
            <a:avLst/>
          </a:prstGeom>
          <a:noFill/>
          <a:ln/>
        </p:spPr>
        <p:txBody>
          <a:bodyPr wrap="square" lIns="0" tIns="0" rIns="0" bIns="0" rtlCol="0" anchor="ctr"/>
          <a:lstStyle/>
          <a:p>
            <a:pPr indent="0" marL="0">
              <a:buNone/>
            </a:pPr>
            <a:r>
              <a:rPr lang="en-US" sz="1250" b="1" dirty="0">
                <a:solidFill>
                  <a:srgbClr val="0E7C5C"/>
                </a:solidFill>
                <a:latin typeface="Calibri" pitchFamily="34" charset="0"/>
                <a:ea typeface="Calibri" pitchFamily="34" charset="-122"/>
                <a:cs typeface="Calibri" pitchFamily="34" charset="-120"/>
              </a:rPr>
              <a:t>Long stay past 60 days</a:t>
            </a:r>
            <a:endParaRPr lang="en-US" sz="1250" dirty="0"/>
          </a:p>
        </p:txBody>
      </p:sp>
      <p:sp>
        <p:nvSpPr>
          <p:cNvPr id="7" name="Text 4"/>
          <p:cNvSpPr/>
          <p:nvPr/>
        </p:nvSpPr>
        <p:spPr>
          <a:xfrm>
            <a:off x="7498080" y="2249424"/>
            <a:ext cx="3749040" cy="329184"/>
          </a:xfrm>
          <a:prstGeom prst="rect">
            <a:avLst/>
          </a:prstGeom>
          <a:noFill/>
          <a:ln/>
        </p:spPr>
        <p:txBody>
          <a:bodyPr wrap="square" lIns="0" tIns="0" rIns="0" bIns="0" rtlCol="0" anchor="ctr"/>
          <a:lstStyle/>
          <a:p>
            <a:pPr indent="0" marL="0">
              <a:buNone/>
            </a:pPr>
            <a:r>
              <a:rPr lang="en-US" sz="1500" b="1" dirty="0">
                <a:solidFill>
                  <a:srgbClr val="0F1B2A"/>
                </a:solidFill>
                <a:latin typeface="Calibri" pitchFamily="34" charset="0"/>
                <a:ea typeface="Calibri" pitchFamily="34" charset="-122"/>
                <a:cs typeface="Calibri" pitchFamily="34" charset="-120"/>
              </a:rPr>
              <a:t>+0.012 AUC over a keyword baseline</a:t>
            </a:r>
            <a:endParaRPr lang="en-US" sz="1500" dirty="0"/>
          </a:p>
        </p:txBody>
      </p:sp>
      <p:sp>
        <p:nvSpPr>
          <p:cNvPr id="8" name="Text 5"/>
          <p:cNvSpPr/>
          <p:nvPr/>
        </p:nvSpPr>
        <p:spPr>
          <a:xfrm>
            <a:off x="7498080" y="2596896"/>
            <a:ext cx="3749040" cy="548640"/>
          </a:xfrm>
          <a:prstGeom prst="rect">
            <a:avLst/>
          </a:prstGeom>
          <a:noFill/>
          <a:ln/>
        </p:spPr>
        <p:txBody>
          <a:bodyPr wrap="square" lIns="0" tIns="0" rIns="0" bIns="0" rtlCol="0" anchor="ctr"/>
          <a:lstStyle/>
          <a:p>
            <a:pPr indent="0" marL="0">
              <a:lnSpc>
                <a:spcPts val="1400"/>
              </a:lnSpc>
              <a:buNone/>
            </a:pPr>
            <a:r>
              <a:rPr lang="en-US" sz="1100" dirty="0">
                <a:solidFill>
                  <a:srgbClr val="4A5E72"/>
                </a:solidFill>
                <a:latin typeface="Calibri" pitchFamily="34" charset="0"/>
                <a:ea typeface="Calibri" pitchFamily="34" charset="-122"/>
                <a:cs typeface="Calibri" pitchFamily="34" charset="-120"/>
              </a:rPr>
              <a:t>p &lt; 0.001, paired bootstrap.  +0.035 over dropping breed entirely.</a:t>
            </a:r>
            <a:endParaRPr lang="en-US" sz="1100" dirty="0"/>
          </a:p>
        </p:txBody>
      </p:sp>
      <p:sp>
        <p:nvSpPr>
          <p:cNvPr id="9" name="Shape 6"/>
          <p:cNvSpPr/>
          <p:nvPr/>
        </p:nvSpPr>
        <p:spPr>
          <a:xfrm>
            <a:off x="7223760" y="3429000"/>
            <a:ext cx="4297680" cy="1481328"/>
          </a:xfrm>
          <a:prstGeom prst="roundRect">
            <a:avLst>
              <a:gd name="adj" fmla="val 3704"/>
            </a:avLst>
          </a:prstGeom>
          <a:solidFill>
            <a:srgbClr val="FDF4EC"/>
          </a:solidFill>
          <a:ln w="12700">
            <a:solidFill>
              <a:srgbClr val="DCE3E9"/>
            </a:solidFill>
            <a:prstDash val="solid"/>
          </a:ln>
          <a:effectLst>
            <a:outerShdw sx="100000" sy="100000" kx="0" ky="0" algn="bl" rotWithShape="0" blurRad="101600" dist="12700" dir="5400000">
              <a:srgbClr val="9AA9B8">
                <a:alpha val="16000"/>
              </a:srgbClr>
            </a:outerShdw>
          </a:effectLst>
        </p:spPr>
      </p:sp>
      <p:sp>
        <p:nvSpPr>
          <p:cNvPr id="10" name="Text 7"/>
          <p:cNvSpPr/>
          <p:nvPr/>
        </p:nvSpPr>
        <p:spPr>
          <a:xfrm>
            <a:off x="7498080" y="3566160"/>
            <a:ext cx="3749040" cy="292608"/>
          </a:xfrm>
          <a:prstGeom prst="rect">
            <a:avLst/>
          </a:prstGeom>
          <a:noFill/>
          <a:ln/>
        </p:spPr>
        <p:txBody>
          <a:bodyPr wrap="square" lIns="0" tIns="0" rIns="0" bIns="0" rtlCol="0" anchor="ctr"/>
          <a:lstStyle/>
          <a:p>
            <a:pPr indent="0" marL="0">
              <a:buNone/>
            </a:pPr>
            <a:r>
              <a:rPr lang="en-US" sz="1250" b="1" dirty="0">
                <a:solidFill>
                  <a:srgbClr val="B56A28"/>
                </a:solidFill>
                <a:latin typeface="Calibri" pitchFamily="34" charset="0"/>
                <a:ea typeface="Calibri" pitchFamily="34" charset="-122"/>
                <a:cs typeface="Calibri" pitchFamily="34" charset="-120"/>
              </a:rPr>
              <a:t>Adoption within 30 days</a:t>
            </a:r>
            <a:endParaRPr lang="en-US" sz="1250" dirty="0"/>
          </a:p>
        </p:txBody>
      </p:sp>
      <p:sp>
        <p:nvSpPr>
          <p:cNvPr id="11" name="Text 8"/>
          <p:cNvSpPr/>
          <p:nvPr/>
        </p:nvSpPr>
        <p:spPr>
          <a:xfrm>
            <a:off x="7498080" y="3895344"/>
            <a:ext cx="3749040" cy="329184"/>
          </a:xfrm>
          <a:prstGeom prst="rect">
            <a:avLst/>
          </a:prstGeom>
          <a:noFill/>
          <a:ln/>
        </p:spPr>
        <p:txBody>
          <a:bodyPr wrap="square" lIns="0" tIns="0" rIns="0" bIns="0" rtlCol="0" anchor="ctr"/>
          <a:lstStyle/>
          <a:p>
            <a:pPr indent="0" marL="0">
              <a:buNone/>
            </a:pPr>
            <a:r>
              <a:rPr lang="en-US" sz="1500" b="1" dirty="0">
                <a:solidFill>
                  <a:srgbClr val="0F1B2A"/>
                </a:solidFill>
                <a:latin typeface="Calibri" pitchFamily="34" charset="0"/>
                <a:ea typeface="Calibri" pitchFamily="34" charset="-122"/>
                <a:cs typeface="Calibri" pitchFamily="34" charset="-120"/>
              </a:rPr>
              <a:t>+0.0003 AUC. Nothing.</a:t>
            </a:r>
            <a:endParaRPr lang="en-US" sz="1500" dirty="0"/>
          </a:p>
        </p:txBody>
      </p:sp>
      <p:sp>
        <p:nvSpPr>
          <p:cNvPr id="12" name="Text 9"/>
          <p:cNvSpPr/>
          <p:nvPr/>
        </p:nvSpPr>
        <p:spPr>
          <a:xfrm>
            <a:off x="7498080" y="4242816"/>
            <a:ext cx="3749040" cy="548640"/>
          </a:xfrm>
          <a:prstGeom prst="rect">
            <a:avLst/>
          </a:prstGeom>
          <a:noFill/>
          <a:ln/>
        </p:spPr>
        <p:txBody>
          <a:bodyPr wrap="square" lIns="0" tIns="0" rIns="0" bIns="0" rtlCol="0" anchor="ctr"/>
          <a:lstStyle/>
          <a:p>
            <a:pPr indent="0" marL="0">
              <a:lnSpc>
                <a:spcPts val="1400"/>
              </a:lnSpc>
              <a:buNone/>
            </a:pPr>
            <a:r>
              <a:rPr lang="en-US" sz="1100" dirty="0">
                <a:solidFill>
                  <a:srgbClr val="4A5E72"/>
                </a:solidFill>
                <a:latin typeface="Calibri" pitchFamily="34" charset="0"/>
                <a:ea typeface="Calibri" pitchFamily="34" charset="-122"/>
                <a:cs typeface="Calibri" pitchFamily="34" charset="-120"/>
              </a:rPr>
              <a:t>p = 0.73. A regular expression does the job for this question.</a:t>
            </a:r>
            <a:endParaRPr lang="en-US" sz="1100" dirty="0"/>
          </a:p>
        </p:txBody>
      </p:sp>
      <p:sp>
        <p:nvSpPr>
          <p:cNvPr id="13" name="Text 10"/>
          <p:cNvSpPr/>
          <p:nvPr/>
        </p:nvSpPr>
        <p:spPr>
          <a:xfrm>
            <a:off x="658368" y="5138928"/>
            <a:ext cx="10881360" cy="548640"/>
          </a:xfrm>
          <a:prstGeom prst="rect">
            <a:avLst/>
          </a:prstGeom>
          <a:noFill/>
          <a:ln/>
        </p:spPr>
        <p:txBody>
          <a:bodyPr wrap="square" lIns="0" tIns="0" rIns="0" bIns="0" rtlCol="0" anchor="ctr"/>
          <a:lstStyle/>
          <a:p>
            <a:pPr indent="0" marL="0">
              <a:lnSpc>
                <a:spcPts val="1600"/>
              </a:lnSpc>
              <a:buNone/>
            </a:pPr>
            <a:r>
              <a:rPr lang="en-US" sz="1250" dirty="0">
                <a:solidFill>
                  <a:srgbClr val="4A5E72"/>
                </a:solidFill>
                <a:latin typeface="Calibri" pitchFamily="34" charset="0"/>
                <a:ea typeface="Calibri" pitchFamily="34" charset="-122"/>
                <a:cs typeface="Calibri" pitchFamily="34" charset="-120"/>
              </a:rPr>
              <a:t>Breed predicts who is still here in two months far better than it predicts a fast adoption. Weather, our fourth data source, did not help either target and we say so.</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658368" y="384048"/>
            <a:ext cx="10844784" cy="1133856"/>
          </a:xfrm>
          <a:prstGeom prst="rect">
            <a:avLst/>
          </a:prstGeom>
          <a:noFill/>
          <a:ln/>
        </p:spPr>
        <p:txBody>
          <a:bodyPr wrap="square" lIns="0" tIns="0" rIns="0" bIns="0" rtlCol="0" anchor="t"/>
          <a:lstStyle/>
          <a:p>
            <a:pPr indent="0" marL="0">
              <a:buNone/>
            </a:pPr>
            <a:r>
              <a:rPr lang="en-US" sz="3400" b="1" dirty="0">
                <a:solidFill>
                  <a:srgbClr val="0F1B2A"/>
                </a:solidFill>
                <a:latin typeface="Cambria" pitchFamily="34" charset="0"/>
                <a:ea typeface="Cambria" pitchFamily="34" charset="-122"/>
                <a:cs typeface="Cambria" pitchFamily="34" charset="-120"/>
              </a:rPr>
              <a:t>March 2020: the ranking held, the probabilities did not</a:t>
            </a:r>
            <a:endParaRPr lang="en-US" sz="3400" dirty="0"/>
          </a:p>
        </p:txBody>
      </p:sp>
      <p:sp>
        <p:nvSpPr>
          <p:cNvPr id="3" name="Text 1"/>
          <p:cNvSpPr/>
          <p:nvPr/>
        </p:nvSpPr>
        <p:spPr>
          <a:xfrm>
            <a:off x="658368" y="1609344"/>
            <a:ext cx="10844784" cy="384048"/>
          </a:xfrm>
          <a:prstGeom prst="rect">
            <a:avLst/>
          </a:prstGeom>
          <a:noFill/>
          <a:ln/>
        </p:spPr>
        <p:txBody>
          <a:bodyPr wrap="square" lIns="0" tIns="0" rIns="0" bIns="0" rtlCol="0" anchor="ctr"/>
          <a:lstStyle/>
          <a:p>
            <a:pPr indent="0" marL="0">
              <a:buNone/>
            </a:pPr>
            <a:r>
              <a:rPr lang="en-US" sz="1450" dirty="0">
                <a:solidFill>
                  <a:srgbClr val="4A5E72"/>
                </a:solidFill>
                <a:latin typeface="Calibri" pitchFamily="34" charset="0"/>
                <a:ea typeface="Calibri" pitchFamily="34" charset="-122"/>
                <a:cs typeface="Calibri" pitchFamily="34" charset="-120"/>
              </a:rPr>
              <a:t>A model frozen on 2018 data, scored monthly across a real operational discontinuity.</a:t>
            </a:r>
            <a:endParaRPr lang="en-US" sz="1450" dirty="0"/>
          </a:p>
        </p:txBody>
      </p:sp>
      <p:pic>
        <p:nvPicPr>
          <p:cNvPr id="4" name="Image 0" descr="/home/claude/secondchance/results/figures/fig12_drift_timeline.png">    </p:cNvPr>
          <p:cNvPicPr>
            <a:picLocks noChangeAspect="1"/>
          </p:cNvPicPr>
          <p:nvPr/>
        </p:nvPicPr>
        <p:blipFill>
          <a:blip r:embed="rId1"/>
          <a:stretch>
            <a:fillRect/>
          </a:stretch>
        </p:blipFill>
        <p:spPr>
          <a:xfrm>
            <a:off x="658368" y="1691640"/>
            <a:ext cx="6766560" cy="4114800"/>
          </a:xfrm>
          <a:prstGeom prst="rect">
            <a:avLst/>
          </a:prstGeom>
        </p:spPr>
      </p:pic>
      <p:sp>
        <p:nvSpPr>
          <p:cNvPr id="5" name="Shape 2"/>
          <p:cNvSpPr/>
          <p:nvPr/>
        </p:nvSpPr>
        <p:spPr>
          <a:xfrm>
            <a:off x="7680960" y="1783080"/>
            <a:ext cx="3840480" cy="1371600"/>
          </a:xfrm>
          <a:prstGeom prst="roundRect">
            <a:avLst>
              <a:gd name="adj" fmla="val 4000"/>
            </a:avLst>
          </a:prstGeom>
          <a:solidFill>
            <a:srgbClr val="FFFFFF"/>
          </a:solidFill>
          <a:ln w="12700">
            <a:solidFill>
              <a:srgbClr val="DCE3E9"/>
            </a:solidFill>
            <a:prstDash val="solid"/>
          </a:ln>
          <a:effectLst>
            <a:outerShdw sx="100000" sy="100000" kx="0" ky="0" algn="bl" rotWithShape="0" blurRad="101600" dist="12700" dir="5400000">
              <a:srgbClr val="9AA9B8">
                <a:alpha val="16000"/>
              </a:srgbClr>
            </a:outerShdw>
          </a:effectLst>
        </p:spPr>
      </p:sp>
      <p:sp>
        <p:nvSpPr>
          <p:cNvPr id="6" name="Text 3"/>
          <p:cNvSpPr/>
          <p:nvPr/>
        </p:nvSpPr>
        <p:spPr>
          <a:xfrm>
            <a:off x="7955280" y="1901952"/>
            <a:ext cx="3291840" cy="274320"/>
          </a:xfrm>
          <a:prstGeom prst="rect">
            <a:avLst/>
          </a:prstGeom>
          <a:noFill/>
          <a:ln/>
        </p:spPr>
        <p:txBody>
          <a:bodyPr wrap="square" lIns="0" tIns="0" rIns="0" bIns="0" rtlCol="0" anchor="ctr"/>
          <a:lstStyle/>
          <a:p>
            <a:pPr indent="0" marL="0">
              <a:buNone/>
            </a:pPr>
            <a:r>
              <a:rPr lang="en-US" sz="1200" b="1" dirty="0">
                <a:solidFill>
                  <a:srgbClr val="0E7C5C"/>
                </a:solidFill>
                <a:latin typeface="Calibri" pitchFamily="34" charset="0"/>
                <a:ea typeface="Calibri" pitchFamily="34" charset="-122"/>
                <a:cs typeface="Calibri" pitchFamily="34" charset="-120"/>
              </a:rPr>
              <a:t>Discrimination</a:t>
            </a:r>
            <a:endParaRPr lang="en-US" sz="1200" dirty="0"/>
          </a:p>
        </p:txBody>
      </p:sp>
      <p:sp>
        <p:nvSpPr>
          <p:cNvPr id="7" name="Text 4"/>
          <p:cNvSpPr/>
          <p:nvPr/>
        </p:nvSpPr>
        <p:spPr>
          <a:xfrm>
            <a:off x="7955280" y="2194560"/>
            <a:ext cx="3291840" cy="411480"/>
          </a:xfrm>
          <a:prstGeom prst="rect">
            <a:avLst/>
          </a:prstGeom>
          <a:noFill/>
          <a:ln/>
        </p:spPr>
        <p:txBody>
          <a:bodyPr wrap="square" lIns="0" tIns="0" rIns="0" bIns="0" rtlCol="0" anchor="ctr"/>
          <a:lstStyle/>
          <a:p>
            <a:pPr indent="0" marL="0">
              <a:buNone/>
            </a:pPr>
            <a:r>
              <a:rPr lang="en-US" sz="2100" b="1" dirty="0">
                <a:solidFill>
                  <a:srgbClr val="0F1B2A"/>
                </a:solidFill>
                <a:latin typeface="Cambria" pitchFamily="34" charset="0"/>
                <a:ea typeface="Cambria" pitchFamily="34" charset="-122"/>
                <a:cs typeface="Cambria" pitchFamily="34" charset="-120"/>
              </a:rPr>
              <a:t>0.778  →  0.789</a:t>
            </a:r>
            <a:endParaRPr lang="en-US" sz="2100" dirty="0"/>
          </a:p>
        </p:txBody>
      </p:sp>
      <p:sp>
        <p:nvSpPr>
          <p:cNvPr id="8" name="Text 5"/>
          <p:cNvSpPr/>
          <p:nvPr/>
        </p:nvSpPr>
        <p:spPr>
          <a:xfrm>
            <a:off x="7955280" y="2615184"/>
            <a:ext cx="3291840" cy="457200"/>
          </a:xfrm>
          <a:prstGeom prst="rect">
            <a:avLst/>
          </a:prstGeom>
          <a:noFill/>
          <a:ln/>
        </p:spPr>
        <p:txBody>
          <a:bodyPr wrap="square" lIns="0" tIns="0" rIns="0" bIns="0" rtlCol="0" anchor="ctr"/>
          <a:lstStyle/>
          <a:p>
            <a:pPr indent="0" marL="0">
              <a:lnSpc>
                <a:spcPts val="1300"/>
              </a:lnSpc>
              <a:buNone/>
            </a:pPr>
            <a:r>
              <a:rPr lang="en-US" sz="1050" dirty="0">
                <a:solidFill>
                  <a:srgbClr val="4A5E72"/>
                </a:solidFill>
                <a:latin typeface="Calibri" pitchFamily="34" charset="0"/>
                <a:ea typeface="Calibri" pitchFamily="34" charset="-122"/>
                <a:cs typeface="Calibri" pitchFamily="34" charset="-120"/>
              </a:rPr>
              <a:t>mean monthly AUC, before and after. It did not degrade.</a:t>
            </a:r>
            <a:endParaRPr lang="en-US" sz="1050" dirty="0"/>
          </a:p>
        </p:txBody>
      </p:sp>
      <p:sp>
        <p:nvSpPr>
          <p:cNvPr id="9" name="Shape 6"/>
          <p:cNvSpPr/>
          <p:nvPr/>
        </p:nvSpPr>
        <p:spPr>
          <a:xfrm>
            <a:off x="7680960" y="3291840"/>
            <a:ext cx="3840480" cy="1371600"/>
          </a:xfrm>
          <a:prstGeom prst="roundRect">
            <a:avLst>
              <a:gd name="adj" fmla="val 4000"/>
            </a:avLst>
          </a:prstGeom>
          <a:solidFill>
            <a:srgbClr val="FCEFEC"/>
          </a:solidFill>
          <a:ln w="12700">
            <a:solidFill>
              <a:srgbClr val="DCE3E9"/>
            </a:solidFill>
            <a:prstDash val="solid"/>
          </a:ln>
          <a:effectLst>
            <a:outerShdw sx="100000" sy="100000" kx="0" ky="0" algn="bl" rotWithShape="0" blurRad="101600" dist="12700" dir="5400000">
              <a:srgbClr val="9AA9B8">
                <a:alpha val="16000"/>
              </a:srgbClr>
            </a:outerShdw>
          </a:effectLst>
        </p:spPr>
      </p:sp>
      <p:sp>
        <p:nvSpPr>
          <p:cNvPr id="10" name="Text 7"/>
          <p:cNvSpPr/>
          <p:nvPr/>
        </p:nvSpPr>
        <p:spPr>
          <a:xfrm>
            <a:off x="7955280" y="3410712"/>
            <a:ext cx="3291840" cy="274320"/>
          </a:xfrm>
          <a:prstGeom prst="rect">
            <a:avLst/>
          </a:prstGeom>
          <a:noFill/>
          <a:ln/>
        </p:spPr>
        <p:txBody>
          <a:bodyPr wrap="square" lIns="0" tIns="0" rIns="0" bIns="0" rtlCol="0" anchor="ctr"/>
          <a:lstStyle/>
          <a:p>
            <a:pPr indent="0" marL="0">
              <a:buNone/>
            </a:pPr>
            <a:r>
              <a:rPr lang="en-US" sz="1200" b="1" dirty="0">
                <a:solidFill>
                  <a:srgbClr val="D0574B"/>
                </a:solidFill>
                <a:latin typeface="Calibri" pitchFamily="34" charset="0"/>
                <a:ea typeface="Calibri" pitchFamily="34" charset="-122"/>
                <a:cs typeface="Calibri" pitchFamily="34" charset="-120"/>
              </a:rPr>
              <a:t>Calibration</a:t>
            </a:r>
            <a:endParaRPr lang="en-US" sz="1200" dirty="0"/>
          </a:p>
        </p:txBody>
      </p:sp>
      <p:sp>
        <p:nvSpPr>
          <p:cNvPr id="11" name="Text 8"/>
          <p:cNvSpPr/>
          <p:nvPr/>
        </p:nvSpPr>
        <p:spPr>
          <a:xfrm>
            <a:off x="7955280" y="3703320"/>
            <a:ext cx="3291840" cy="411480"/>
          </a:xfrm>
          <a:prstGeom prst="rect">
            <a:avLst/>
          </a:prstGeom>
          <a:noFill/>
          <a:ln/>
        </p:spPr>
        <p:txBody>
          <a:bodyPr wrap="square" lIns="0" tIns="0" rIns="0" bIns="0" rtlCol="0" anchor="ctr"/>
          <a:lstStyle/>
          <a:p>
            <a:pPr indent="0" marL="0">
              <a:buNone/>
            </a:pPr>
            <a:r>
              <a:rPr lang="en-US" sz="2100" b="1" dirty="0">
                <a:solidFill>
                  <a:srgbClr val="0F1B2A"/>
                </a:solidFill>
                <a:latin typeface="Cambria" pitchFamily="34" charset="0"/>
                <a:ea typeface="Cambria" pitchFamily="34" charset="-122"/>
                <a:cs typeface="Cambria" pitchFamily="34" charset="-120"/>
              </a:rPr>
              <a:t>7.6 points off</a:t>
            </a:r>
            <a:endParaRPr lang="en-US" sz="2100" dirty="0"/>
          </a:p>
        </p:txBody>
      </p:sp>
      <p:sp>
        <p:nvSpPr>
          <p:cNvPr id="12" name="Text 9"/>
          <p:cNvSpPr/>
          <p:nvPr/>
        </p:nvSpPr>
        <p:spPr>
          <a:xfrm>
            <a:off x="7955280" y="4123944"/>
            <a:ext cx="3291840" cy="457200"/>
          </a:xfrm>
          <a:prstGeom prst="rect">
            <a:avLst/>
          </a:prstGeom>
          <a:noFill/>
          <a:ln/>
        </p:spPr>
        <p:txBody>
          <a:bodyPr wrap="square" lIns="0" tIns="0" rIns="0" bIns="0" rtlCol="0" anchor="ctr"/>
          <a:lstStyle/>
          <a:p>
            <a:pPr indent="0" marL="0">
              <a:lnSpc>
                <a:spcPts val="1300"/>
              </a:lnSpc>
              <a:buNone/>
            </a:pPr>
            <a:r>
              <a:rPr lang="en-US" sz="1050" dirty="0">
                <a:solidFill>
                  <a:srgbClr val="4A5E72"/>
                </a:solidFill>
                <a:latin typeface="Calibri" pitchFamily="34" charset="0"/>
                <a:ea typeface="Calibri" pitchFamily="34" charset="-122"/>
                <a:cs typeface="Calibri" pitchFamily="34" charset="-120"/>
              </a:rPr>
              <a:t>in July 2020. It broke, and the ranking metric never noticed.</a:t>
            </a:r>
            <a:endParaRPr lang="en-US" sz="1050" dirty="0"/>
          </a:p>
        </p:txBody>
      </p:sp>
      <p:sp>
        <p:nvSpPr>
          <p:cNvPr id="13" name="Text 10"/>
          <p:cNvSpPr/>
          <p:nvPr/>
        </p:nvSpPr>
        <p:spPr>
          <a:xfrm>
            <a:off x="7680960" y="4828032"/>
            <a:ext cx="3840480" cy="960120"/>
          </a:xfrm>
          <a:prstGeom prst="rect">
            <a:avLst/>
          </a:prstGeom>
          <a:noFill/>
          <a:ln/>
        </p:spPr>
        <p:txBody>
          <a:bodyPr wrap="square" lIns="0" tIns="0" rIns="0" bIns="0" rtlCol="0" anchor="ctr"/>
          <a:lstStyle/>
          <a:p>
            <a:pPr indent="0" marL="0">
              <a:lnSpc>
                <a:spcPts val="1400"/>
              </a:lnSpc>
              <a:buNone/>
            </a:pPr>
            <a:r>
              <a:rPr lang="en-US" sz="1100" b="1" dirty="0">
                <a:solidFill>
                  <a:srgbClr val="0F1B2A"/>
                </a:solidFill>
                <a:latin typeface="Calibri" pitchFamily="34" charset="0"/>
                <a:ea typeface="Calibri" pitchFamily="34" charset="-122"/>
                <a:cs typeface="Calibri" pitchFamily="34" charset="-120"/>
              </a:rPr>
              <a:t>Input drift fired a quarter earlier than performance drift could.  </a:t>
            </a:r>
            <a:pPr indent="0" marL="0">
              <a:lnSpc>
                <a:spcPts val="1400"/>
              </a:lnSpc>
              <a:buNone/>
            </a:pPr>
            <a:r>
              <a:rPr lang="en-US" sz="1100" dirty="0">
                <a:solidFill>
                  <a:srgbClr val="4A5E72"/>
                </a:solidFill>
                <a:latin typeface="Calibri" pitchFamily="34" charset="0"/>
                <a:ea typeface="Calibri" pitchFamily="34" charset="-122"/>
                <a:cs typeface="Calibri" pitchFamily="34" charset="-120"/>
              </a:rPr>
              <a:t>The 30-day label does not exist for 30 days, so outcome monitoring is structurally six weeks behind its own cause.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658368" y="384048"/>
            <a:ext cx="10844784" cy="566928"/>
          </a:xfrm>
          <a:prstGeom prst="rect">
            <a:avLst/>
          </a:prstGeom>
          <a:noFill/>
          <a:ln/>
        </p:spPr>
        <p:txBody>
          <a:bodyPr wrap="square" lIns="0" tIns="0" rIns="0" bIns="0" rtlCol="0" anchor="t"/>
          <a:lstStyle/>
          <a:p>
            <a:pPr indent="0" marL="0">
              <a:buNone/>
            </a:pPr>
            <a:r>
              <a:rPr lang="en-US" sz="3400" b="1" dirty="0">
                <a:solidFill>
                  <a:srgbClr val="0F1B2A"/>
                </a:solidFill>
                <a:latin typeface="Cambria" pitchFamily="34" charset="0"/>
                <a:ea typeface="Cambria" pitchFamily="34" charset="-122"/>
                <a:cs typeface="Cambria" pitchFamily="34" charset="-120"/>
              </a:rPr>
              <a:t>A lifecycle, not a notebook</a:t>
            </a:r>
            <a:endParaRPr lang="en-US" sz="3400" dirty="0"/>
          </a:p>
        </p:txBody>
      </p:sp>
      <p:sp>
        <p:nvSpPr>
          <p:cNvPr id="3" name="Text 1"/>
          <p:cNvSpPr/>
          <p:nvPr/>
        </p:nvSpPr>
        <p:spPr>
          <a:xfrm>
            <a:off x="658368" y="1042416"/>
            <a:ext cx="10844784" cy="384048"/>
          </a:xfrm>
          <a:prstGeom prst="rect">
            <a:avLst/>
          </a:prstGeom>
          <a:noFill/>
          <a:ln/>
        </p:spPr>
        <p:txBody>
          <a:bodyPr wrap="square" lIns="0" tIns="0" rIns="0" bIns="0" rtlCol="0" anchor="ctr"/>
          <a:lstStyle/>
          <a:p>
            <a:pPr indent="0" marL="0">
              <a:buNone/>
            </a:pPr>
            <a:r>
              <a:rPr lang="en-US" sz="1450" dirty="0">
                <a:solidFill>
                  <a:srgbClr val="4A5E72"/>
                </a:solidFill>
                <a:latin typeface="Calibri" pitchFamily="34" charset="0"/>
                <a:ea typeface="Calibri" pitchFamily="34" charset="-122"/>
                <a:cs typeface="Calibri" pitchFamily="34" charset="-120"/>
              </a:rPr>
              <a:t>Serverless end to end, with the monitoring loop and the human gate that make it a system.</a:t>
            </a:r>
            <a:endParaRPr lang="en-US" sz="1450" dirty="0"/>
          </a:p>
        </p:txBody>
      </p:sp>
      <p:sp>
        <p:nvSpPr>
          <p:cNvPr id="4" name="Shape 2"/>
          <p:cNvSpPr/>
          <p:nvPr/>
        </p:nvSpPr>
        <p:spPr>
          <a:xfrm>
            <a:off x="658368" y="1783080"/>
            <a:ext cx="3429000" cy="1828800"/>
          </a:xfrm>
          <a:prstGeom prst="roundRect">
            <a:avLst>
              <a:gd name="adj" fmla="val 3000"/>
            </a:avLst>
          </a:prstGeom>
          <a:solidFill>
            <a:srgbClr val="FFFFFF"/>
          </a:solidFill>
          <a:ln w="12700">
            <a:solidFill>
              <a:srgbClr val="DCE3E9"/>
            </a:solidFill>
            <a:prstDash val="solid"/>
          </a:ln>
          <a:effectLst>
            <a:outerShdw sx="100000" sy="100000" kx="0" ky="0" algn="bl" rotWithShape="0" blurRad="101600" dist="12700" dir="5400000">
              <a:srgbClr val="9AA9B8">
                <a:alpha val="16000"/>
              </a:srgbClr>
            </a:outerShdw>
          </a:effectLst>
        </p:spPr>
      </p:sp>
      <p:sp>
        <p:nvSpPr>
          <p:cNvPr id="5" name="Shape 3"/>
          <p:cNvSpPr/>
          <p:nvPr/>
        </p:nvSpPr>
        <p:spPr>
          <a:xfrm>
            <a:off x="932688" y="2039112"/>
            <a:ext cx="384048" cy="384048"/>
          </a:xfrm>
          <a:prstGeom prst="ellipse">
            <a:avLst/>
          </a:prstGeom>
          <a:solidFill>
            <a:srgbClr val="14A67C"/>
          </a:solidFill>
          <a:ln/>
        </p:spPr>
      </p:sp>
      <p:sp>
        <p:nvSpPr>
          <p:cNvPr id="6" name="Text 4"/>
          <p:cNvSpPr/>
          <p:nvPr/>
        </p:nvSpPr>
        <p:spPr>
          <a:xfrm>
            <a:off x="932688" y="20391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435608" y="2039112"/>
            <a:ext cx="2377440" cy="384048"/>
          </a:xfrm>
          <a:prstGeom prst="rect">
            <a:avLst/>
          </a:prstGeom>
          <a:noFill/>
          <a:ln/>
        </p:spPr>
        <p:txBody>
          <a:bodyPr wrap="square" lIns="0" tIns="0" rIns="0" bIns="0" rtlCol="0" anchor="ctr"/>
          <a:lstStyle/>
          <a:p>
            <a:pPr indent="0" marL="0">
              <a:buNone/>
            </a:pPr>
            <a:r>
              <a:rPr lang="en-US" sz="1700" b="1" dirty="0">
                <a:solidFill>
                  <a:srgbClr val="0F1B2A"/>
                </a:solidFill>
                <a:latin typeface="Cambria" pitchFamily="34" charset="0"/>
                <a:ea typeface="Cambria" pitchFamily="34" charset="-122"/>
                <a:cs typeface="Cambria" pitchFamily="34" charset="-120"/>
              </a:rPr>
              <a:t>Ingest</a:t>
            </a:r>
            <a:endParaRPr lang="en-US" sz="1700" dirty="0"/>
          </a:p>
        </p:txBody>
      </p:sp>
      <p:sp>
        <p:nvSpPr>
          <p:cNvPr id="8" name="Text 6"/>
          <p:cNvSpPr/>
          <p:nvPr/>
        </p:nvSpPr>
        <p:spPr>
          <a:xfrm>
            <a:off x="932688" y="2560320"/>
            <a:ext cx="2880360" cy="914400"/>
          </a:xfrm>
          <a:prstGeom prst="rect">
            <a:avLst/>
          </a:prstGeom>
          <a:noFill/>
          <a:ln/>
        </p:spPr>
        <p:txBody>
          <a:bodyPr wrap="square" lIns="0" tIns="0" rIns="0" bIns="0" rtlCol="0" anchor="ctr"/>
          <a:lstStyle/>
          <a:p>
            <a:pPr indent="0" marL="0">
              <a:lnSpc>
                <a:spcPts val="1450"/>
              </a:lnSpc>
              <a:buNone/>
            </a:pPr>
            <a:r>
              <a:rPr lang="en-US" sz="1100" dirty="0">
                <a:solidFill>
                  <a:srgbClr val="4A5E72"/>
                </a:solidFill>
                <a:latin typeface="Calibri" pitchFamily="34" charset="0"/>
                <a:ea typeface="Calibri" pitchFamily="34" charset="-122"/>
                <a:cs typeface="Calibri" pitchFamily="34" charset="-120"/>
              </a:rPr>
              <a:t>Four public APIs on a schedule into a versioned, encrypted S3 landing zone. Raw responses kept forever.</a:t>
            </a:r>
            <a:endParaRPr lang="en-US" sz="1100" dirty="0"/>
          </a:p>
        </p:txBody>
      </p:sp>
      <p:sp>
        <p:nvSpPr>
          <p:cNvPr id="9" name="Shape 7"/>
          <p:cNvSpPr/>
          <p:nvPr/>
        </p:nvSpPr>
        <p:spPr>
          <a:xfrm>
            <a:off x="4361688" y="1783080"/>
            <a:ext cx="3429000" cy="1828800"/>
          </a:xfrm>
          <a:prstGeom prst="roundRect">
            <a:avLst>
              <a:gd name="adj" fmla="val 3000"/>
            </a:avLst>
          </a:prstGeom>
          <a:solidFill>
            <a:srgbClr val="FFFFFF"/>
          </a:solidFill>
          <a:ln w="12700">
            <a:solidFill>
              <a:srgbClr val="DCE3E9"/>
            </a:solidFill>
            <a:prstDash val="solid"/>
          </a:ln>
          <a:effectLst>
            <a:outerShdw sx="100000" sy="100000" kx="0" ky="0" algn="bl" rotWithShape="0" blurRad="101600" dist="12700" dir="5400000">
              <a:srgbClr val="9AA9B8">
                <a:alpha val="16000"/>
              </a:srgbClr>
            </a:outerShdw>
          </a:effectLst>
        </p:spPr>
      </p:sp>
      <p:sp>
        <p:nvSpPr>
          <p:cNvPr id="10" name="Shape 8"/>
          <p:cNvSpPr/>
          <p:nvPr/>
        </p:nvSpPr>
        <p:spPr>
          <a:xfrm>
            <a:off x="4636008" y="2039112"/>
            <a:ext cx="384048" cy="384048"/>
          </a:xfrm>
          <a:prstGeom prst="ellipse">
            <a:avLst/>
          </a:prstGeom>
          <a:solidFill>
            <a:srgbClr val="14A67C"/>
          </a:solidFill>
          <a:ln/>
        </p:spPr>
      </p:sp>
      <p:sp>
        <p:nvSpPr>
          <p:cNvPr id="11" name="Text 9"/>
          <p:cNvSpPr/>
          <p:nvPr/>
        </p:nvSpPr>
        <p:spPr>
          <a:xfrm>
            <a:off x="4636008" y="20391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5138928" y="2039112"/>
            <a:ext cx="2377440" cy="384048"/>
          </a:xfrm>
          <a:prstGeom prst="rect">
            <a:avLst/>
          </a:prstGeom>
          <a:noFill/>
          <a:ln/>
        </p:spPr>
        <p:txBody>
          <a:bodyPr wrap="square" lIns="0" tIns="0" rIns="0" bIns="0" rtlCol="0" anchor="ctr"/>
          <a:lstStyle/>
          <a:p>
            <a:pPr indent="0" marL="0">
              <a:buNone/>
            </a:pPr>
            <a:r>
              <a:rPr lang="en-US" sz="1700" b="1" dirty="0">
                <a:solidFill>
                  <a:srgbClr val="0F1B2A"/>
                </a:solidFill>
                <a:latin typeface="Cambria" pitchFamily="34" charset="0"/>
                <a:ea typeface="Cambria" pitchFamily="34" charset="-122"/>
                <a:cs typeface="Cambria" pitchFamily="34" charset="-120"/>
              </a:rPr>
              <a:t>Warehouse</a:t>
            </a:r>
            <a:endParaRPr lang="en-US" sz="1700" dirty="0"/>
          </a:p>
        </p:txBody>
      </p:sp>
      <p:sp>
        <p:nvSpPr>
          <p:cNvPr id="13" name="Text 11"/>
          <p:cNvSpPr/>
          <p:nvPr/>
        </p:nvSpPr>
        <p:spPr>
          <a:xfrm>
            <a:off x="4636008" y="2560320"/>
            <a:ext cx="2880360" cy="914400"/>
          </a:xfrm>
          <a:prstGeom prst="rect">
            <a:avLst/>
          </a:prstGeom>
          <a:noFill/>
          <a:ln/>
        </p:spPr>
        <p:txBody>
          <a:bodyPr wrap="square" lIns="0" tIns="0" rIns="0" bIns="0" rtlCol="0" anchor="ctr"/>
          <a:lstStyle/>
          <a:p>
            <a:pPr indent="0" marL="0">
              <a:lnSpc>
                <a:spcPts val="1450"/>
              </a:lnSpc>
              <a:buNone/>
            </a:pPr>
            <a:r>
              <a:rPr lang="en-US" sz="1100" dirty="0">
                <a:solidFill>
                  <a:srgbClr val="4A5E72"/>
                </a:solidFill>
                <a:latin typeface="Calibri" pitchFamily="34" charset="0"/>
                <a:ea typeface="Calibri" pitchFamily="34" charset="-122"/>
                <a:cs typeface="Calibri" pitchFamily="34" charset="-120"/>
              </a:rPr>
              <a:t>Glue and Redshift Serverless at 8 RPU. Episode reconstruction, occupancy, and the analytics grain.</a:t>
            </a:r>
            <a:endParaRPr lang="en-US" sz="1100" dirty="0"/>
          </a:p>
        </p:txBody>
      </p:sp>
      <p:sp>
        <p:nvSpPr>
          <p:cNvPr id="14" name="Shape 12"/>
          <p:cNvSpPr/>
          <p:nvPr/>
        </p:nvSpPr>
        <p:spPr>
          <a:xfrm>
            <a:off x="8065008" y="1783080"/>
            <a:ext cx="3429000" cy="1828800"/>
          </a:xfrm>
          <a:prstGeom prst="roundRect">
            <a:avLst>
              <a:gd name="adj" fmla="val 3000"/>
            </a:avLst>
          </a:prstGeom>
          <a:solidFill>
            <a:srgbClr val="FFFFFF"/>
          </a:solidFill>
          <a:ln w="12700">
            <a:solidFill>
              <a:srgbClr val="DCE3E9"/>
            </a:solidFill>
            <a:prstDash val="solid"/>
          </a:ln>
          <a:effectLst>
            <a:outerShdw sx="100000" sy="100000" kx="0" ky="0" algn="bl" rotWithShape="0" blurRad="101600" dist="12700" dir="5400000">
              <a:srgbClr val="9AA9B8">
                <a:alpha val="16000"/>
              </a:srgbClr>
            </a:outerShdw>
          </a:effectLst>
        </p:spPr>
      </p:sp>
      <p:sp>
        <p:nvSpPr>
          <p:cNvPr id="15" name="Shape 13"/>
          <p:cNvSpPr/>
          <p:nvPr/>
        </p:nvSpPr>
        <p:spPr>
          <a:xfrm>
            <a:off x="8339328" y="2039112"/>
            <a:ext cx="384048" cy="384048"/>
          </a:xfrm>
          <a:prstGeom prst="ellipse">
            <a:avLst/>
          </a:prstGeom>
          <a:solidFill>
            <a:srgbClr val="14A67C"/>
          </a:solidFill>
          <a:ln/>
        </p:spPr>
      </p:sp>
      <p:sp>
        <p:nvSpPr>
          <p:cNvPr id="16" name="Text 14"/>
          <p:cNvSpPr/>
          <p:nvPr/>
        </p:nvSpPr>
        <p:spPr>
          <a:xfrm>
            <a:off x="8339328" y="20391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8842248" y="2039112"/>
            <a:ext cx="2377440" cy="384048"/>
          </a:xfrm>
          <a:prstGeom prst="rect">
            <a:avLst/>
          </a:prstGeom>
          <a:noFill/>
          <a:ln/>
        </p:spPr>
        <p:txBody>
          <a:bodyPr wrap="square" lIns="0" tIns="0" rIns="0" bIns="0" rtlCol="0" anchor="ctr"/>
          <a:lstStyle/>
          <a:p>
            <a:pPr indent="0" marL="0">
              <a:buNone/>
            </a:pPr>
            <a:r>
              <a:rPr lang="en-US" sz="1700" b="1" dirty="0">
                <a:solidFill>
                  <a:srgbClr val="0F1B2A"/>
                </a:solidFill>
                <a:latin typeface="Cambria" pitchFamily="34" charset="0"/>
                <a:ea typeface="Cambria" pitchFamily="34" charset="-122"/>
                <a:cs typeface="Cambria" pitchFamily="34" charset="-120"/>
              </a:rPr>
              <a:t>Label</a:t>
            </a:r>
            <a:endParaRPr lang="en-US" sz="1700" dirty="0"/>
          </a:p>
        </p:txBody>
      </p:sp>
      <p:sp>
        <p:nvSpPr>
          <p:cNvPr id="18" name="Text 16"/>
          <p:cNvSpPr/>
          <p:nvPr/>
        </p:nvSpPr>
        <p:spPr>
          <a:xfrm>
            <a:off x="8339328" y="2560320"/>
            <a:ext cx="2880360" cy="914400"/>
          </a:xfrm>
          <a:prstGeom prst="rect">
            <a:avLst/>
          </a:prstGeom>
          <a:noFill/>
          <a:ln/>
        </p:spPr>
        <p:txBody>
          <a:bodyPr wrap="square" lIns="0" tIns="0" rIns="0" bIns="0" rtlCol="0" anchor="ctr"/>
          <a:lstStyle/>
          <a:p>
            <a:pPr indent="0" marL="0">
              <a:lnSpc>
                <a:spcPts val="1450"/>
              </a:lnSpc>
              <a:buNone/>
            </a:pPr>
            <a:r>
              <a:rPr lang="en-US" sz="1100" dirty="0">
                <a:solidFill>
                  <a:srgbClr val="4A5E72"/>
                </a:solidFill>
                <a:latin typeface="Calibri" pitchFamily="34" charset="0"/>
                <a:ea typeface="Calibri" pitchFamily="34" charset="-122"/>
                <a:cs typeface="Calibri" pitchFamily="34" charset="-120"/>
              </a:rPr>
              <a:t>Bedrock structures any breed token the reference has not seen. Prompt versioned, output committed.</a:t>
            </a:r>
            <a:endParaRPr lang="en-US" sz="1100" dirty="0"/>
          </a:p>
        </p:txBody>
      </p:sp>
      <p:sp>
        <p:nvSpPr>
          <p:cNvPr id="19" name="Shape 17"/>
          <p:cNvSpPr/>
          <p:nvPr/>
        </p:nvSpPr>
        <p:spPr>
          <a:xfrm>
            <a:off x="658368" y="3840480"/>
            <a:ext cx="3429000" cy="1828800"/>
          </a:xfrm>
          <a:prstGeom prst="roundRect">
            <a:avLst>
              <a:gd name="adj" fmla="val 3000"/>
            </a:avLst>
          </a:prstGeom>
          <a:solidFill>
            <a:srgbClr val="FFFFFF"/>
          </a:solidFill>
          <a:ln w="12700">
            <a:solidFill>
              <a:srgbClr val="DCE3E9"/>
            </a:solidFill>
            <a:prstDash val="solid"/>
          </a:ln>
          <a:effectLst>
            <a:outerShdw sx="100000" sy="100000" kx="0" ky="0" algn="bl" rotWithShape="0" blurRad="101600" dist="12700" dir="5400000">
              <a:srgbClr val="9AA9B8">
                <a:alpha val="16000"/>
              </a:srgbClr>
            </a:outerShdw>
          </a:effectLst>
        </p:spPr>
      </p:sp>
      <p:sp>
        <p:nvSpPr>
          <p:cNvPr id="20" name="Shape 18"/>
          <p:cNvSpPr/>
          <p:nvPr/>
        </p:nvSpPr>
        <p:spPr>
          <a:xfrm>
            <a:off x="932688" y="4096512"/>
            <a:ext cx="384048" cy="384048"/>
          </a:xfrm>
          <a:prstGeom prst="ellipse">
            <a:avLst/>
          </a:prstGeom>
          <a:solidFill>
            <a:srgbClr val="14A67C"/>
          </a:solidFill>
          <a:ln/>
        </p:spPr>
      </p:sp>
      <p:sp>
        <p:nvSpPr>
          <p:cNvPr id="21" name="Text 19"/>
          <p:cNvSpPr/>
          <p:nvPr/>
        </p:nvSpPr>
        <p:spPr>
          <a:xfrm>
            <a:off x="932688" y="40965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1435608" y="4096512"/>
            <a:ext cx="2377440" cy="384048"/>
          </a:xfrm>
          <a:prstGeom prst="rect">
            <a:avLst/>
          </a:prstGeom>
          <a:noFill/>
          <a:ln/>
        </p:spPr>
        <p:txBody>
          <a:bodyPr wrap="square" lIns="0" tIns="0" rIns="0" bIns="0" rtlCol="0" anchor="ctr"/>
          <a:lstStyle/>
          <a:p>
            <a:pPr indent="0" marL="0">
              <a:buNone/>
            </a:pPr>
            <a:r>
              <a:rPr lang="en-US" sz="1700" b="1" dirty="0">
                <a:solidFill>
                  <a:srgbClr val="0F1B2A"/>
                </a:solidFill>
                <a:latin typeface="Cambria" pitchFamily="34" charset="0"/>
                <a:ea typeface="Cambria" pitchFamily="34" charset="-122"/>
                <a:cs typeface="Cambria" pitchFamily="34" charset="-120"/>
              </a:rPr>
              <a:t>Train</a:t>
            </a:r>
            <a:endParaRPr lang="en-US" sz="1700" dirty="0"/>
          </a:p>
        </p:txBody>
      </p:sp>
      <p:sp>
        <p:nvSpPr>
          <p:cNvPr id="23" name="Text 21"/>
          <p:cNvSpPr/>
          <p:nvPr/>
        </p:nvSpPr>
        <p:spPr>
          <a:xfrm>
            <a:off x="932688" y="4617720"/>
            <a:ext cx="2880360" cy="914400"/>
          </a:xfrm>
          <a:prstGeom prst="rect">
            <a:avLst/>
          </a:prstGeom>
          <a:noFill/>
          <a:ln/>
        </p:spPr>
        <p:txBody>
          <a:bodyPr wrap="square" lIns="0" tIns="0" rIns="0" bIns="0" rtlCol="0" anchor="ctr"/>
          <a:lstStyle/>
          <a:p>
            <a:pPr indent="0" marL="0">
              <a:lnSpc>
                <a:spcPts val="1450"/>
              </a:lnSpc>
              <a:buNone/>
            </a:pPr>
            <a:r>
              <a:rPr lang="en-US" sz="1100" dirty="0">
                <a:solidFill>
                  <a:srgbClr val="4A5E72"/>
                </a:solidFill>
                <a:latin typeface="Calibri" pitchFamily="34" charset="0"/>
                <a:ea typeface="Calibri" pitchFamily="34" charset="-122"/>
                <a:cs typeface="Calibri" pitchFamily="34" charset="-120"/>
              </a:rPr>
              <a:t>SageMaker transient jobs. Every model registered with its data cutoff, metrics and feature hash.</a:t>
            </a:r>
            <a:endParaRPr lang="en-US" sz="1100" dirty="0"/>
          </a:p>
        </p:txBody>
      </p:sp>
      <p:sp>
        <p:nvSpPr>
          <p:cNvPr id="24" name="Shape 22"/>
          <p:cNvSpPr/>
          <p:nvPr/>
        </p:nvSpPr>
        <p:spPr>
          <a:xfrm>
            <a:off x="4361688" y="3840480"/>
            <a:ext cx="3429000" cy="1828800"/>
          </a:xfrm>
          <a:prstGeom prst="roundRect">
            <a:avLst>
              <a:gd name="adj" fmla="val 3000"/>
            </a:avLst>
          </a:prstGeom>
          <a:solidFill>
            <a:srgbClr val="FFFFFF"/>
          </a:solidFill>
          <a:ln w="12700">
            <a:solidFill>
              <a:srgbClr val="DCE3E9"/>
            </a:solidFill>
            <a:prstDash val="solid"/>
          </a:ln>
          <a:effectLst>
            <a:outerShdw sx="100000" sy="100000" kx="0" ky="0" algn="bl" rotWithShape="0" blurRad="101600" dist="12700" dir="5400000">
              <a:srgbClr val="9AA9B8">
                <a:alpha val="16000"/>
              </a:srgbClr>
            </a:outerShdw>
          </a:effectLst>
        </p:spPr>
      </p:sp>
      <p:sp>
        <p:nvSpPr>
          <p:cNvPr id="25" name="Shape 23"/>
          <p:cNvSpPr/>
          <p:nvPr/>
        </p:nvSpPr>
        <p:spPr>
          <a:xfrm>
            <a:off x="4636008" y="4096512"/>
            <a:ext cx="384048" cy="384048"/>
          </a:xfrm>
          <a:prstGeom prst="ellipse">
            <a:avLst/>
          </a:prstGeom>
          <a:solidFill>
            <a:srgbClr val="14A67C"/>
          </a:solidFill>
          <a:ln/>
        </p:spPr>
      </p:sp>
      <p:sp>
        <p:nvSpPr>
          <p:cNvPr id="26" name="Text 24"/>
          <p:cNvSpPr/>
          <p:nvPr/>
        </p:nvSpPr>
        <p:spPr>
          <a:xfrm>
            <a:off x="4636008" y="40965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5138928" y="4096512"/>
            <a:ext cx="2377440" cy="384048"/>
          </a:xfrm>
          <a:prstGeom prst="rect">
            <a:avLst/>
          </a:prstGeom>
          <a:noFill/>
          <a:ln/>
        </p:spPr>
        <p:txBody>
          <a:bodyPr wrap="square" lIns="0" tIns="0" rIns="0" bIns="0" rtlCol="0" anchor="ctr"/>
          <a:lstStyle/>
          <a:p>
            <a:pPr indent="0" marL="0">
              <a:buNone/>
            </a:pPr>
            <a:r>
              <a:rPr lang="en-US" sz="1700" b="1" dirty="0">
                <a:solidFill>
                  <a:srgbClr val="0F1B2A"/>
                </a:solidFill>
                <a:latin typeface="Cambria" pitchFamily="34" charset="0"/>
                <a:ea typeface="Cambria" pitchFamily="34" charset="-122"/>
                <a:cs typeface="Cambria" pitchFamily="34" charset="-120"/>
              </a:rPr>
              <a:t>Serve</a:t>
            </a:r>
            <a:endParaRPr lang="en-US" sz="1700" dirty="0"/>
          </a:p>
        </p:txBody>
      </p:sp>
      <p:sp>
        <p:nvSpPr>
          <p:cNvPr id="28" name="Text 26"/>
          <p:cNvSpPr/>
          <p:nvPr/>
        </p:nvSpPr>
        <p:spPr>
          <a:xfrm>
            <a:off x="4636008" y="4617720"/>
            <a:ext cx="2880360" cy="914400"/>
          </a:xfrm>
          <a:prstGeom prst="rect">
            <a:avLst/>
          </a:prstGeom>
          <a:noFill/>
          <a:ln/>
        </p:spPr>
        <p:txBody>
          <a:bodyPr wrap="square" lIns="0" tIns="0" rIns="0" bIns="0" rtlCol="0" anchor="ctr"/>
          <a:lstStyle/>
          <a:p>
            <a:pPr indent="0" marL="0">
              <a:lnSpc>
                <a:spcPts val="1450"/>
              </a:lnSpc>
              <a:buNone/>
            </a:pPr>
            <a:r>
              <a:rPr lang="en-US" sz="1100" dirty="0">
                <a:solidFill>
                  <a:srgbClr val="4A5E72"/>
                </a:solidFill>
                <a:latin typeface="Calibri" pitchFamily="34" charset="0"/>
                <a:ea typeface="Calibri" pitchFamily="34" charset="-122"/>
                <a:cs typeface="Calibri" pitchFamily="34" charset="-120"/>
              </a:rPr>
              <a:t>API Gateway and Lambda. Five routes. Every response carries the model version, data freshness and use policy.</a:t>
            </a:r>
            <a:endParaRPr lang="en-US" sz="1100" dirty="0"/>
          </a:p>
        </p:txBody>
      </p:sp>
      <p:sp>
        <p:nvSpPr>
          <p:cNvPr id="29" name="Shape 27"/>
          <p:cNvSpPr/>
          <p:nvPr/>
        </p:nvSpPr>
        <p:spPr>
          <a:xfrm>
            <a:off x="8065008" y="3840480"/>
            <a:ext cx="3429000" cy="1828800"/>
          </a:xfrm>
          <a:prstGeom prst="roundRect">
            <a:avLst>
              <a:gd name="adj" fmla="val 3000"/>
            </a:avLst>
          </a:prstGeom>
          <a:solidFill>
            <a:srgbClr val="FFFFFF"/>
          </a:solidFill>
          <a:ln w="12700">
            <a:solidFill>
              <a:srgbClr val="DCE3E9"/>
            </a:solidFill>
            <a:prstDash val="solid"/>
          </a:ln>
          <a:effectLst>
            <a:outerShdw sx="100000" sy="100000" kx="0" ky="0" algn="bl" rotWithShape="0" blurRad="101600" dist="12700" dir="5400000">
              <a:srgbClr val="9AA9B8">
                <a:alpha val="16000"/>
              </a:srgbClr>
            </a:outerShdw>
          </a:effectLst>
        </p:spPr>
      </p:sp>
      <p:sp>
        <p:nvSpPr>
          <p:cNvPr id="30" name="Shape 28"/>
          <p:cNvSpPr/>
          <p:nvPr/>
        </p:nvSpPr>
        <p:spPr>
          <a:xfrm>
            <a:off x="8339328" y="4096512"/>
            <a:ext cx="384048" cy="384048"/>
          </a:xfrm>
          <a:prstGeom prst="ellipse">
            <a:avLst/>
          </a:prstGeom>
          <a:solidFill>
            <a:srgbClr val="E8944A"/>
          </a:solidFill>
          <a:ln/>
        </p:spPr>
      </p:sp>
      <p:sp>
        <p:nvSpPr>
          <p:cNvPr id="31" name="Text 29"/>
          <p:cNvSpPr/>
          <p:nvPr/>
        </p:nvSpPr>
        <p:spPr>
          <a:xfrm>
            <a:off x="8339328" y="40965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p:nvPr/>
        </p:nvSpPr>
        <p:spPr>
          <a:xfrm>
            <a:off x="8842248" y="4096512"/>
            <a:ext cx="2377440" cy="384048"/>
          </a:xfrm>
          <a:prstGeom prst="rect">
            <a:avLst/>
          </a:prstGeom>
          <a:noFill/>
          <a:ln/>
        </p:spPr>
        <p:txBody>
          <a:bodyPr wrap="square" lIns="0" tIns="0" rIns="0" bIns="0" rtlCol="0" anchor="ctr"/>
          <a:lstStyle/>
          <a:p>
            <a:pPr indent="0" marL="0">
              <a:buNone/>
            </a:pPr>
            <a:r>
              <a:rPr lang="en-US" sz="1700" b="1" dirty="0">
                <a:solidFill>
                  <a:srgbClr val="0F1B2A"/>
                </a:solidFill>
                <a:latin typeface="Cambria" pitchFamily="34" charset="0"/>
                <a:ea typeface="Cambria" pitchFamily="34" charset="-122"/>
                <a:cs typeface="Cambria" pitchFamily="34" charset="-120"/>
              </a:rPr>
              <a:t>Watch</a:t>
            </a:r>
            <a:endParaRPr lang="en-US" sz="1700" dirty="0"/>
          </a:p>
        </p:txBody>
      </p:sp>
      <p:sp>
        <p:nvSpPr>
          <p:cNvPr id="33" name="Text 31"/>
          <p:cNvSpPr/>
          <p:nvPr/>
        </p:nvSpPr>
        <p:spPr>
          <a:xfrm>
            <a:off x="8339328" y="4617720"/>
            <a:ext cx="2880360" cy="914400"/>
          </a:xfrm>
          <a:prstGeom prst="rect">
            <a:avLst/>
          </a:prstGeom>
          <a:noFill/>
          <a:ln/>
        </p:spPr>
        <p:txBody>
          <a:bodyPr wrap="square" lIns="0" tIns="0" rIns="0" bIns="0" rtlCol="0" anchor="ctr"/>
          <a:lstStyle/>
          <a:p>
            <a:pPr indent="0" marL="0">
              <a:lnSpc>
                <a:spcPts val="1450"/>
              </a:lnSpc>
              <a:buNone/>
            </a:pPr>
            <a:r>
              <a:rPr lang="en-US" sz="1100" dirty="0">
                <a:solidFill>
                  <a:srgbClr val="4A5E72"/>
                </a:solidFill>
                <a:latin typeface="Calibri" pitchFamily="34" charset="0"/>
                <a:ea typeface="Calibri" pitchFamily="34" charset="-122"/>
                <a:cs typeface="Calibri" pitchFamily="34" charset="-120"/>
              </a:rPr>
              <a:t>Weekly job: 19 monitored features, rolling AUC, calibration gap. Six CloudWatch alarms into email.</a:t>
            </a:r>
            <a:endParaRPr lang="en-US" sz="1100" dirty="0"/>
          </a:p>
        </p:txBody>
      </p:sp>
      <p:sp>
        <p:nvSpPr>
          <p:cNvPr id="34" name="Text 32"/>
          <p:cNvSpPr/>
          <p:nvPr/>
        </p:nvSpPr>
        <p:spPr>
          <a:xfrm>
            <a:off x="658368" y="5961888"/>
            <a:ext cx="10881360" cy="365760"/>
          </a:xfrm>
          <a:prstGeom prst="rect">
            <a:avLst/>
          </a:prstGeom>
          <a:noFill/>
          <a:ln/>
        </p:spPr>
        <p:txBody>
          <a:bodyPr wrap="square" lIns="0" tIns="0" rIns="0" bIns="0" rtlCol="0" anchor="ctr"/>
          <a:lstStyle/>
          <a:p>
            <a:pPr indent="0" marL="0">
              <a:buNone/>
            </a:pPr>
            <a:r>
              <a:rPr lang="en-US" sz="1150" i="1" dirty="0">
                <a:solidFill>
                  <a:srgbClr val="8195A8"/>
                </a:solidFill>
                <a:latin typeface="Calibri" pitchFamily="34" charset="0"/>
                <a:ea typeface="Calibri" pitchFamily="34" charset="-122"/>
                <a:cs typeface="Calibri" pitchFamily="34" charset="-120"/>
              </a:rPr>
              <a:t>Measured cost: $34.07 a month with no persistent endpoint. A real-time endpoint would add $169.</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2A43"/>
        </a:solidFill>
      </p:bgPr>
    </p:bg>
    <p:spTree>
      <p:nvGrpSpPr>
        <p:cNvPr id="1" name=""/>
        <p:cNvGrpSpPr/>
        <p:nvPr/>
      </p:nvGrpSpPr>
      <p:grpSpPr>
        <a:xfrm>
          <a:off x="0" y="0"/>
          <a:ext cx="0" cy="0"/>
          <a:chOff x="0" y="0"/>
          <a:chExt cx="0" cy="0"/>
        </a:xfrm>
      </p:grpSpPr>
      <p:sp>
        <p:nvSpPr>
          <p:cNvPr id="2" name="Text 0"/>
          <p:cNvSpPr/>
          <p:nvPr/>
        </p:nvSpPr>
        <p:spPr>
          <a:xfrm>
            <a:off x="658368" y="384048"/>
            <a:ext cx="10844784" cy="566928"/>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Direction is an engineering decision</a:t>
            </a:r>
            <a:endParaRPr lang="en-US" sz="3400" dirty="0"/>
          </a:p>
        </p:txBody>
      </p:sp>
      <p:sp>
        <p:nvSpPr>
          <p:cNvPr id="3" name="Shape 1"/>
          <p:cNvSpPr/>
          <p:nvPr/>
        </p:nvSpPr>
        <p:spPr>
          <a:xfrm>
            <a:off x="658368" y="1600200"/>
            <a:ext cx="5212080" cy="2788920"/>
          </a:xfrm>
          <a:prstGeom prst="roundRect">
            <a:avLst>
              <a:gd name="adj" fmla="val 1967"/>
            </a:avLst>
          </a:prstGeom>
          <a:solidFill>
            <a:srgbClr val="1E3A5F"/>
          </a:solidFill>
          <a:ln w="12700">
            <a:solidFill>
              <a:srgbClr val="DCE3E9"/>
            </a:solidFill>
            <a:prstDash val="solid"/>
          </a:ln>
          <a:effectLst>
            <a:outerShdw sx="100000" sy="100000" kx="0" ky="0" algn="bl" rotWithShape="0" blurRad="101600" dist="12700" dir="5400000">
              <a:srgbClr val="9AA9B8">
                <a:alpha val="16000"/>
              </a:srgbClr>
            </a:outerShdw>
          </a:effectLst>
        </p:spPr>
      </p:sp>
      <p:sp>
        <p:nvSpPr>
          <p:cNvPr id="4" name="Text 2"/>
          <p:cNvSpPr/>
          <p:nvPr/>
        </p:nvSpPr>
        <p:spPr>
          <a:xfrm>
            <a:off x="978408" y="1755648"/>
            <a:ext cx="4572000" cy="310896"/>
          </a:xfrm>
          <a:prstGeom prst="rect">
            <a:avLst/>
          </a:prstGeom>
          <a:noFill/>
          <a:ln/>
        </p:spPr>
        <p:txBody>
          <a:bodyPr wrap="square" lIns="0" tIns="0" rIns="0" bIns="0" rtlCol="0" anchor="ctr"/>
          <a:lstStyle/>
          <a:p>
            <a:pPr indent="0" marL="0">
              <a:buNone/>
            </a:pPr>
            <a:r>
              <a:rPr lang="en-US" sz="1250" b="1" dirty="0">
                <a:solidFill>
                  <a:srgbClr val="9FD9C4"/>
                </a:solidFill>
                <a:latin typeface="Calibri" pitchFamily="34" charset="0"/>
                <a:ea typeface="Calibri" pitchFamily="34" charset="-122"/>
                <a:cs typeface="Calibri" pitchFamily="34" charset="-120"/>
              </a:rPr>
              <a:t>What we found</a:t>
            </a:r>
            <a:endParaRPr lang="en-US" sz="1250" dirty="0"/>
          </a:p>
        </p:txBody>
      </p:sp>
      <p:sp>
        <p:nvSpPr>
          <p:cNvPr id="5" name="Text 3"/>
          <p:cNvSpPr/>
          <p:nvPr/>
        </p:nvSpPr>
        <p:spPr>
          <a:xfrm>
            <a:off x="978408" y="2121408"/>
            <a:ext cx="4572000" cy="1280160"/>
          </a:xfrm>
          <a:prstGeom prst="rect">
            <a:avLst/>
          </a:prstGeom>
          <a:noFill/>
          <a:ln/>
        </p:spPr>
        <p:txBody>
          <a:bodyPr wrap="square" lIns="0" tIns="0" rIns="0" bIns="0" rtlCol="0" anchor="ctr"/>
          <a:lstStyle/>
          <a:p>
            <a:pPr indent="0" marL="0">
              <a:lnSpc>
                <a:spcPts val="1700"/>
              </a:lnSpc>
              <a:buNone/>
            </a:pPr>
            <a:r>
              <a:rPr lang="en-US" sz="1250" b="1" dirty="0">
                <a:solidFill>
                  <a:srgbClr val="FFFFFF"/>
                </a:solidFill>
                <a:latin typeface="Calibri" pitchFamily="34" charset="0"/>
                <a:ea typeface="Calibri" pitchFamily="34" charset="-122"/>
                <a:cs typeface="Calibri" pitchFamily="34" charset="-120"/>
              </a:rPr>
              <a:t>Dogs carrying a bully-type breed label</a:t>
            </a:r>
            <a:pPr indent="0" marL="0">
              <a:lnSpc>
                <a:spcPts val="1700"/>
              </a:lnSpc>
              <a:buNone/>
            </a:pPr>
            <a:r>
              <a:rPr lang="en-US" sz="1250" dirty="0">
                <a:solidFill>
                  <a:srgbClr val="C6D8E6"/>
                </a:solidFill>
                <a:latin typeface="Calibri" pitchFamily="34" charset="0"/>
                <a:ea typeface="Calibri" pitchFamily="34" charset="-122"/>
                <a:cs typeface="Calibri" pitchFamily="34" charset="-120"/>
              </a:rPr>
              <a:t> reach 25.1 percent 30-day adoption against 34.0 percent for others. The model is also worse for them (AUC 0.754 against 0.807) and under-promises their chances by 4.8 points.</a:t>
            </a:r>
            <a:endParaRPr lang="en-US" sz="1250" dirty="0"/>
          </a:p>
        </p:txBody>
      </p:sp>
      <p:sp>
        <p:nvSpPr>
          <p:cNvPr id="6" name="Text 4"/>
          <p:cNvSpPr/>
          <p:nvPr/>
        </p:nvSpPr>
        <p:spPr>
          <a:xfrm>
            <a:off x="978408" y="3493008"/>
            <a:ext cx="4572000" cy="731520"/>
          </a:xfrm>
          <a:prstGeom prst="rect">
            <a:avLst/>
          </a:prstGeom>
          <a:noFill/>
          <a:ln/>
        </p:spPr>
        <p:txBody>
          <a:bodyPr wrap="square" lIns="0" tIns="0" rIns="0" bIns="0" rtlCol="0" anchor="ctr"/>
          <a:lstStyle/>
          <a:p>
            <a:pPr indent="0" marL="0">
              <a:lnSpc>
                <a:spcPts val="1400"/>
              </a:lnSpc>
              <a:buNone/>
            </a:pPr>
            <a:r>
              <a:rPr lang="en-US" sz="1100" i="1" dirty="0">
                <a:solidFill>
                  <a:srgbClr val="8FA9C0"/>
                </a:solidFill>
                <a:latin typeface="Calibri" pitchFamily="34" charset="0"/>
                <a:ea typeface="Calibri" pitchFamily="34" charset="-122"/>
                <a:cs typeface="Calibri" pitchFamily="34" charset="-120"/>
              </a:rPr>
              <a:t>Olson et al. measured 50 percent sensitivity for that label against DNA. This is a finding about the label, not the animals.</a:t>
            </a:r>
            <a:endParaRPr lang="en-US" sz="1100" dirty="0"/>
          </a:p>
        </p:txBody>
      </p:sp>
      <p:sp>
        <p:nvSpPr>
          <p:cNvPr id="7" name="Shape 5"/>
          <p:cNvSpPr/>
          <p:nvPr/>
        </p:nvSpPr>
        <p:spPr>
          <a:xfrm>
            <a:off x="6492240" y="1600200"/>
            <a:ext cx="5029200" cy="2788920"/>
          </a:xfrm>
          <a:prstGeom prst="roundRect">
            <a:avLst>
              <a:gd name="adj" fmla="val 1967"/>
            </a:avLst>
          </a:prstGeom>
          <a:solidFill>
            <a:srgbClr val="1E3A5F"/>
          </a:solidFill>
          <a:ln w="12700">
            <a:solidFill>
              <a:srgbClr val="DCE3E9"/>
            </a:solidFill>
            <a:prstDash val="solid"/>
          </a:ln>
          <a:effectLst>
            <a:outerShdw sx="100000" sy="100000" kx="0" ky="0" algn="bl" rotWithShape="0" blurRad="101600" dist="12700" dir="5400000">
              <a:srgbClr val="9AA9B8">
                <a:alpha val="16000"/>
              </a:srgbClr>
            </a:outerShdw>
          </a:effectLst>
        </p:spPr>
      </p:sp>
      <p:sp>
        <p:nvSpPr>
          <p:cNvPr id="8" name="Text 6"/>
          <p:cNvSpPr/>
          <p:nvPr/>
        </p:nvSpPr>
        <p:spPr>
          <a:xfrm>
            <a:off x="6812280" y="1755648"/>
            <a:ext cx="4389120" cy="310896"/>
          </a:xfrm>
          <a:prstGeom prst="rect">
            <a:avLst/>
          </a:prstGeom>
          <a:noFill/>
          <a:ln/>
        </p:spPr>
        <p:txBody>
          <a:bodyPr wrap="square" lIns="0" tIns="0" rIns="0" bIns="0" rtlCol="0" anchor="ctr"/>
          <a:lstStyle/>
          <a:p>
            <a:pPr indent="0" marL="0">
              <a:buNone/>
            </a:pPr>
            <a:r>
              <a:rPr lang="en-US" sz="1250" b="1" dirty="0">
                <a:solidFill>
                  <a:srgbClr val="9FD9C4"/>
                </a:solidFill>
                <a:latin typeface="Calibri" pitchFamily="34" charset="0"/>
                <a:ea typeface="Calibri" pitchFamily="34" charset="-122"/>
                <a:cs typeface="Calibri" pitchFamily="34" charset="-120"/>
              </a:rPr>
              <a:t>What we refused to build</a:t>
            </a:r>
            <a:endParaRPr lang="en-US" sz="1250" dirty="0"/>
          </a:p>
        </p:txBody>
      </p:sp>
      <p:sp>
        <p:nvSpPr>
          <p:cNvPr id="9" name="Text 7"/>
          <p:cNvSpPr/>
          <p:nvPr/>
        </p:nvSpPr>
        <p:spPr>
          <a:xfrm>
            <a:off x="6812280" y="2121408"/>
            <a:ext cx="4389120" cy="1005840"/>
          </a:xfrm>
          <a:prstGeom prst="rect">
            <a:avLst/>
          </a:prstGeom>
          <a:noFill/>
          <a:ln/>
        </p:spPr>
        <p:txBody>
          <a:bodyPr wrap="square" lIns="0" tIns="0" rIns="0" bIns="0" rtlCol="0" anchor="ctr"/>
          <a:lstStyle/>
          <a:p>
            <a:pPr indent="0" marL="0">
              <a:lnSpc>
                <a:spcPts val="1700"/>
              </a:lnSpc>
              <a:buNone/>
            </a:pPr>
            <a:r>
              <a:rPr lang="en-US" sz="1250" dirty="0">
                <a:solidFill>
                  <a:srgbClr val="C6D8E6"/>
                </a:solidFill>
                <a:latin typeface="Calibri" pitchFamily="34" charset="0"/>
                <a:ea typeface="Calibri" pitchFamily="34" charset="-122"/>
                <a:cs typeface="Calibri" pitchFamily="34" charset="-120"/>
              </a:rPr>
              <a:t>The same machinery that ranks animals for extra help could rank them for less. The 2002 paper that founded this literature framed the problem as adoption versus euthanasia.</a:t>
            </a:r>
            <a:endParaRPr lang="en-US" sz="1250" dirty="0"/>
          </a:p>
        </p:txBody>
      </p:sp>
      <p:sp>
        <p:nvSpPr>
          <p:cNvPr id="10" name="Text 8"/>
          <p:cNvSpPr/>
          <p:nvPr/>
        </p:nvSpPr>
        <p:spPr>
          <a:xfrm>
            <a:off x="6812280" y="3200400"/>
            <a:ext cx="4389120" cy="1005840"/>
          </a:xfrm>
          <a:prstGeom prst="rect">
            <a:avLst/>
          </a:prstGeom>
          <a:noFill/>
          <a:ln/>
        </p:spPr>
        <p:txBody>
          <a:bodyPr wrap="square" lIns="0" tIns="0" rIns="0" bIns="0" rtlCol="0" anchor="ctr"/>
          <a:lstStyle/>
          <a:p>
            <a:pPr indent="0" marL="0">
              <a:lnSpc>
                <a:spcPts val="1700"/>
              </a:lnSpc>
              <a:buNone/>
            </a:pPr>
            <a:r>
              <a:rPr lang="en-US" sz="1250" dirty="0">
                <a:solidFill>
                  <a:srgbClr val="FFFFFF"/>
                </a:solidFill>
                <a:latin typeface="Calibri" pitchFamily="34" charset="0"/>
                <a:ea typeface="Calibri" pitchFamily="34" charset="-122"/>
                <a:cs typeface="Calibri" pitchFamily="34" charset="-120"/>
              </a:rPr>
              <a:t>So the use policy ships in every API response, the interface has no ranking that surfaces animals for removal, and the public page shows no probability at all.</a:t>
            </a:r>
            <a:endParaRPr lang="en-US" sz="1250" dirty="0"/>
          </a:p>
        </p:txBody>
      </p:sp>
      <p:sp>
        <p:nvSpPr>
          <p:cNvPr id="11" name="Shape 9"/>
          <p:cNvSpPr/>
          <p:nvPr/>
        </p:nvSpPr>
        <p:spPr>
          <a:xfrm>
            <a:off x="658368" y="4645152"/>
            <a:ext cx="10881360" cy="841248"/>
          </a:xfrm>
          <a:prstGeom prst="roundRect">
            <a:avLst>
              <a:gd name="adj" fmla="val 6522"/>
            </a:avLst>
          </a:prstGeom>
          <a:solidFill>
            <a:srgbClr val="0E7C5C"/>
          </a:solidFill>
          <a:ln w="12700">
            <a:solidFill>
              <a:srgbClr val="333333"/>
            </a:solidFill>
            <a:prstDash val="solid"/>
          </a:ln>
        </p:spPr>
      </p:sp>
      <p:sp>
        <p:nvSpPr>
          <p:cNvPr id="12" name="Text 10"/>
          <p:cNvSpPr/>
          <p:nvPr/>
        </p:nvSpPr>
        <p:spPr>
          <a:xfrm>
            <a:off x="658368" y="4645152"/>
            <a:ext cx="10881360" cy="84124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A low predicted adoption probability is a request for more help, not less.</a:t>
            </a:r>
            <a:endParaRPr lang="en-US" sz="1900" dirty="0"/>
          </a:p>
        </p:txBody>
      </p:sp>
      <p:sp>
        <p:nvSpPr>
          <p:cNvPr id="13" name="Text 11"/>
          <p:cNvSpPr/>
          <p:nvPr/>
        </p:nvSpPr>
        <p:spPr>
          <a:xfrm>
            <a:off x="658368" y="5669280"/>
            <a:ext cx="10881360" cy="548640"/>
          </a:xfrm>
          <a:prstGeom prst="rect">
            <a:avLst/>
          </a:prstGeom>
          <a:noFill/>
          <a:ln/>
        </p:spPr>
        <p:txBody>
          <a:bodyPr wrap="square" lIns="0" tIns="0" rIns="0" bIns="0" rtlCol="0" anchor="ctr"/>
          <a:lstStyle/>
          <a:p>
            <a:pPr algn="ctr" indent="0" marL="0">
              <a:buNone/>
            </a:pPr>
            <a:r>
              <a:rPr lang="en-US" sz="1150" i="1" dirty="0">
                <a:solidFill>
                  <a:srgbClr val="8FA9C0"/>
                </a:solidFill>
                <a:latin typeface="Calibri" pitchFamily="34" charset="0"/>
                <a:ea typeface="Calibri" pitchFamily="34" charset="-122"/>
                <a:cs typeface="Calibri" pitchFamily="34" charset="-120"/>
              </a:rPr>
              <a:t>Black coat colour, incidentally, did not slow adoption at all: 34.1 percent against 32.3. A model that encoded the folk belief would have begun making it true.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658368" y="384048"/>
            <a:ext cx="10844784" cy="566928"/>
          </a:xfrm>
          <a:prstGeom prst="rect">
            <a:avLst/>
          </a:prstGeom>
          <a:noFill/>
          <a:ln/>
        </p:spPr>
        <p:txBody>
          <a:bodyPr wrap="square" lIns="0" tIns="0" rIns="0" bIns="0" rtlCol="0" anchor="t"/>
          <a:lstStyle/>
          <a:p>
            <a:pPr indent="0" marL="0">
              <a:buNone/>
            </a:pPr>
            <a:r>
              <a:rPr lang="en-US" sz="3400" b="1" dirty="0">
                <a:solidFill>
                  <a:srgbClr val="0F1B2A"/>
                </a:solidFill>
                <a:latin typeface="Cambria" pitchFamily="34" charset="0"/>
                <a:ea typeface="Cambria" pitchFamily="34" charset="-122"/>
                <a:cs typeface="Cambria" pitchFamily="34" charset="-120"/>
              </a:rPr>
              <a:t>Four things I would defend, and three I would not</a:t>
            </a:r>
            <a:endParaRPr lang="en-US" sz="3400" dirty="0"/>
          </a:p>
        </p:txBody>
      </p:sp>
      <p:sp>
        <p:nvSpPr>
          <p:cNvPr id="3" name="Shape 1"/>
          <p:cNvSpPr/>
          <p:nvPr/>
        </p:nvSpPr>
        <p:spPr>
          <a:xfrm>
            <a:off x="658368" y="1600200"/>
            <a:ext cx="5486400" cy="3977640"/>
          </a:xfrm>
          <a:prstGeom prst="roundRect">
            <a:avLst>
              <a:gd name="adj" fmla="val 1379"/>
            </a:avLst>
          </a:prstGeom>
          <a:solidFill>
            <a:srgbClr val="FFFFFF"/>
          </a:solidFill>
          <a:ln w="12700">
            <a:solidFill>
              <a:srgbClr val="DCE3E9"/>
            </a:solidFill>
            <a:prstDash val="solid"/>
          </a:ln>
          <a:effectLst>
            <a:outerShdw sx="100000" sy="100000" kx="0" ky="0" algn="bl" rotWithShape="0" blurRad="101600" dist="12700" dir="5400000">
              <a:srgbClr val="9AA9B8">
                <a:alpha val="16000"/>
              </a:srgbClr>
            </a:outerShdw>
          </a:effectLst>
        </p:spPr>
      </p:sp>
      <p:sp>
        <p:nvSpPr>
          <p:cNvPr id="4" name="Text 2"/>
          <p:cNvSpPr/>
          <p:nvPr/>
        </p:nvSpPr>
        <p:spPr>
          <a:xfrm>
            <a:off x="1005840" y="1783080"/>
            <a:ext cx="4754880" cy="347472"/>
          </a:xfrm>
          <a:prstGeom prst="rect">
            <a:avLst/>
          </a:prstGeom>
          <a:noFill/>
          <a:ln/>
        </p:spPr>
        <p:txBody>
          <a:bodyPr wrap="square" lIns="0" tIns="0" rIns="0" bIns="0" rtlCol="0" anchor="ctr"/>
          <a:lstStyle/>
          <a:p>
            <a:pPr indent="0" marL="0">
              <a:buNone/>
            </a:pPr>
            <a:r>
              <a:rPr lang="en-US" sz="1500" b="1" dirty="0">
                <a:solidFill>
                  <a:srgbClr val="0E7C5C"/>
                </a:solidFill>
                <a:latin typeface="Calibri" pitchFamily="34" charset="0"/>
                <a:ea typeface="Calibri" pitchFamily="34" charset="-122"/>
                <a:cs typeface="Calibri" pitchFamily="34" charset="-120"/>
              </a:rPr>
              <a:t>Findings</a:t>
            </a:r>
            <a:endParaRPr lang="en-US" sz="1500" dirty="0"/>
          </a:p>
        </p:txBody>
      </p:sp>
      <p:sp>
        <p:nvSpPr>
          <p:cNvPr id="5" name="Shape 3"/>
          <p:cNvSpPr/>
          <p:nvPr/>
        </p:nvSpPr>
        <p:spPr>
          <a:xfrm>
            <a:off x="1005840" y="2240280"/>
            <a:ext cx="384048" cy="384048"/>
          </a:xfrm>
          <a:prstGeom prst="ellipse">
            <a:avLst/>
          </a:prstGeom>
          <a:solidFill>
            <a:srgbClr val="14A67C"/>
          </a:solidFill>
          <a:ln/>
        </p:spPr>
      </p:sp>
      <p:sp>
        <p:nvSpPr>
          <p:cNvPr id="6" name="Text 4"/>
          <p:cNvSpPr/>
          <p:nvPr/>
        </p:nvSpPr>
        <p:spPr>
          <a:xfrm>
            <a:off x="1005840" y="2240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572768" y="2185416"/>
            <a:ext cx="4251960" cy="685800"/>
          </a:xfrm>
          <a:prstGeom prst="rect">
            <a:avLst/>
          </a:prstGeom>
          <a:noFill/>
          <a:ln/>
        </p:spPr>
        <p:txBody>
          <a:bodyPr wrap="square" lIns="0" tIns="0" rIns="0" bIns="0" rtlCol="0" anchor="ctr"/>
          <a:lstStyle/>
          <a:p>
            <a:pPr indent="0" marL="0">
              <a:lnSpc>
                <a:spcPts val="1600"/>
              </a:lnSpc>
              <a:buNone/>
            </a:pPr>
            <a:r>
              <a:rPr lang="en-US" sz="1250" dirty="0">
                <a:solidFill>
                  <a:srgbClr val="0F1B2A"/>
                </a:solidFill>
                <a:latin typeface="Calibri" pitchFamily="34" charset="0"/>
                <a:ea typeface="Calibri" pitchFamily="34" charset="-122"/>
                <a:cs typeface="Calibri" pitchFamily="34" charset="-120"/>
              </a:rPr>
              <a:t>The standard estimator overstates 30-day adoption by 72 percent on this data.</a:t>
            </a:r>
            <a:endParaRPr lang="en-US" sz="1250" dirty="0"/>
          </a:p>
        </p:txBody>
      </p:sp>
      <p:sp>
        <p:nvSpPr>
          <p:cNvPr id="8" name="Shape 6"/>
          <p:cNvSpPr/>
          <p:nvPr/>
        </p:nvSpPr>
        <p:spPr>
          <a:xfrm>
            <a:off x="1005840" y="3063240"/>
            <a:ext cx="384048" cy="384048"/>
          </a:xfrm>
          <a:prstGeom prst="ellipse">
            <a:avLst/>
          </a:prstGeom>
          <a:solidFill>
            <a:srgbClr val="14A67C"/>
          </a:solidFill>
          <a:ln/>
        </p:spPr>
      </p:sp>
      <p:sp>
        <p:nvSpPr>
          <p:cNvPr id="9" name="Text 7"/>
          <p:cNvSpPr/>
          <p:nvPr/>
        </p:nvSpPr>
        <p:spPr>
          <a:xfrm>
            <a:off x="1005840" y="3063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572768" y="3008376"/>
            <a:ext cx="4251960" cy="685800"/>
          </a:xfrm>
          <a:prstGeom prst="rect">
            <a:avLst/>
          </a:prstGeom>
          <a:noFill/>
          <a:ln/>
        </p:spPr>
        <p:txBody>
          <a:bodyPr wrap="square" lIns="0" tIns="0" rIns="0" bIns="0" rtlCol="0" anchor="ctr"/>
          <a:lstStyle/>
          <a:p>
            <a:pPr indent="0" marL="0">
              <a:lnSpc>
                <a:spcPts val="1600"/>
              </a:lnSpc>
              <a:buNone/>
            </a:pPr>
            <a:r>
              <a:rPr lang="en-US" sz="1250" dirty="0">
                <a:solidFill>
                  <a:srgbClr val="0F1B2A"/>
                </a:solidFill>
                <a:latin typeface="Calibri" pitchFamily="34" charset="0"/>
                <a:ea typeface="Calibri" pitchFamily="34" charset="-122"/>
                <a:cs typeface="Calibri" pitchFamily="34" charset="-120"/>
              </a:rPr>
              <a:t>Calibration and discrimination fail separately. Calibration failed first.</a:t>
            </a:r>
            <a:endParaRPr lang="en-US" sz="1250" dirty="0"/>
          </a:p>
        </p:txBody>
      </p:sp>
      <p:sp>
        <p:nvSpPr>
          <p:cNvPr id="11" name="Shape 9"/>
          <p:cNvSpPr/>
          <p:nvPr/>
        </p:nvSpPr>
        <p:spPr>
          <a:xfrm>
            <a:off x="1005840" y="3886200"/>
            <a:ext cx="384048" cy="384048"/>
          </a:xfrm>
          <a:prstGeom prst="ellipse">
            <a:avLst/>
          </a:prstGeom>
          <a:solidFill>
            <a:srgbClr val="14A67C"/>
          </a:solidFill>
          <a:ln/>
        </p:spPr>
      </p:sp>
      <p:sp>
        <p:nvSpPr>
          <p:cNvPr id="12" name="Text 10"/>
          <p:cNvSpPr/>
          <p:nvPr/>
        </p:nvSpPr>
        <p:spPr>
          <a:xfrm>
            <a:off x="1005840" y="3886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572768" y="3831336"/>
            <a:ext cx="4251960" cy="685800"/>
          </a:xfrm>
          <a:prstGeom prst="rect">
            <a:avLst/>
          </a:prstGeom>
          <a:noFill/>
          <a:ln/>
        </p:spPr>
        <p:txBody>
          <a:bodyPr wrap="square" lIns="0" tIns="0" rIns="0" bIns="0" rtlCol="0" anchor="ctr"/>
          <a:lstStyle/>
          <a:p>
            <a:pPr indent="0" marL="0">
              <a:lnSpc>
                <a:spcPts val="1600"/>
              </a:lnSpc>
              <a:buNone/>
            </a:pPr>
            <a:r>
              <a:rPr lang="en-US" sz="1250" dirty="0">
                <a:solidFill>
                  <a:srgbClr val="0F1B2A"/>
                </a:solidFill>
                <a:latin typeface="Calibri" pitchFamily="34" charset="0"/>
                <a:ea typeface="Calibri" pitchFamily="34" charset="-122"/>
                <a:cs typeface="Calibri" pitchFamily="34" charset="-120"/>
              </a:rPr>
              <a:t>The language model earns its keep on one target and not the other.</a:t>
            </a:r>
            <a:endParaRPr lang="en-US" sz="1250" dirty="0"/>
          </a:p>
        </p:txBody>
      </p:sp>
      <p:sp>
        <p:nvSpPr>
          <p:cNvPr id="14" name="Shape 12"/>
          <p:cNvSpPr/>
          <p:nvPr/>
        </p:nvSpPr>
        <p:spPr>
          <a:xfrm>
            <a:off x="1005840" y="4709160"/>
            <a:ext cx="384048" cy="384048"/>
          </a:xfrm>
          <a:prstGeom prst="ellipse">
            <a:avLst/>
          </a:prstGeom>
          <a:solidFill>
            <a:srgbClr val="14A67C"/>
          </a:solidFill>
          <a:ln/>
        </p:spPr>
      </p:sp>
      <p:sp>
        <p:nvSpPr>
          <p:cNvPr id="15" name="Text 13"/>
          <p:cNvSpPr/>
          <p:nvPr/>
        </p:nvSpPr>
        <p:spPr>
          <a:xfrm>
            <a:off x="1005840" y="4709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p:nvPr/>
        </p:nvSpPr>
        <p:spPr>
          <a:xfrm>
            <a:off x="1572768" y="4654296"/>
            <a:ext cx="4251960" cy="685800"/>
          </a:xfrm>
          <a:prstGeom prst="rect">
            <a:avLst/>
          </a:prstGeom>
          <a:noFill/>
          <a:ln/>
        </p:spPr>
        <p:txBody>
          <a:bodyPr wrap="square" lIns="0" tIns="0" rIns="0" bIns="0" rtlCol="0" anchor="ctr"/>
          <a:lstStyle/>
          <a:p>
            <a:pPr indent="0" marL="0">
              <a:lnSpc>
                <a:spcPts val="1600"/>
              </a:lnSpc>
              <a:buNone/>
            </a:pPr>
            <a:r>
              <a:rPr lang="en-US" sz="1250" dirty="0">
                <a:solidFill>
                  <a:srgbClr val="0F1B2A"/>
                </a:solidFill>
                <a:latin typeface="Calibri" pitchFamily="34" charset="0"/>
                <a:ea typeface="Calibri" pitchFamily="34" charset="-122"/>
                <a:cs typeface="Calibri" pitchFamily="34" charset="-120"/>
              </a:rPr>
              <a:t>Three whole classes of feature will silently break a drift detector.</a:t>
            </a:r>
            <a:endParaRPr lang="en-US" sz="1250" dirty="0"/>
          </a:p>
        </p:txBody>
      </p:sp>
      <p:sp>
        <p:nvSpPr>
          <p:cNvPr id="17" name="Shape 15"/>
          <p:cNvSpPr/>
          <p:nvPr/>
        </p:nvSpPr>
        <p:spPr>
          <a:xfrm>
            <a:off x="6675120" y="1600200"/>
            <a:ext cx="4846320" cy="3977640"/>
          </a:xfrm>
          <a:prstGeom prst="roundRect">
            <a:avLst>
              <a:gd name="adj" fmla="val 1379"/>
            </a:avLst>
          </a:prstGeom>
          <a:solidFill>
            <a:srgbClr val="FAF7F3"/>
          </a:solidFill>
          <a:ln w="12700">
            <a:solidFill>
              <a:srgbClr val="DCE3E9"/>
            </a:solidFill>
            <a:prstDash val="solid"/>
          </a:ln>
          <a:effectLst>
            <a:outerShdw sx="100000" sy="100000" kx="0" ky="0" algn="bl" rotWithShape="0" blurRad="101600" dist="12700" dir="5400000">
              <a:srgbClr val="9AA9B8">
                <a:alpha val="16000"/>
              </a:srgbClr>
            </a:outerShdw>
          </a:effectLst>
        </p:spPr>
      </p:sp>
      <p:sp>
        <p:nvSpPr>
          <p:cNvPr id="18" name="Text 16"/>
          <p:cNvSpPr/>
          <p:nvPr/>
        </p:nvSpPr>
        <p:spPr>
          <a:xfrm>
            <a:off x="7022592" y="1783080"/>
            <a:ext cx="4206240" cy="347472"/>
          </a:xfrm>
          <a:prstGeom prst="rect">
            <a:avLst/>
          </a:prstGeom>
          <a:noFill/>
          <a:ln/>
        </p:spPr>
        <p:txBody>
          <a:bodyPr wrap="square" lIns="0" tIns="0" rIns="0" bIns="0" rtlCol="0" anchor="ctr"/>
          <a:lstStyle/>
          <a:p>
            <a:pPr indent="0" marL="0">
              <a:buNone/>
            </a:pPr>
            <a:r>
              <a:rPr lang="en-US" sz="1500" b="1" dirty="0">
                <a:solidFill>
                  <a:srgbClr val="B56A28"/>
                </a:solidFill>
                <a:latin typeface="Calibri" pitchFamily="34" charset="0"/>
                <a:ea typeface="Calibri" pitchFamily="34" charset="-122"/>
                <a:cs typeface="Calibri" pitchFamily="34" charset="-120"/>
              </a:rPr>
              <a:t>Limitations</a:t>
            </a:r>
            <a:endParaRPr lang="en-US" sz="1500" dirty="0"/>
          </a:p>
        </p:txBody>
      </p:sp>
      <p:sp>
        <p:nvSpPr>
          <p:cNvPr id="19" name="Shape 17"/>
          <p:cNvSpPr/>
          <p:nvPr/>
        </p:nvSpPr>
        <p:spPr>
          <a:xfrm>
            <a:off x="7022592" y="2414016"/>
            <a:ext cx="146304" cy="146304"/>
          </a:xfrm>
          <a:prstGeom prst="ellipse">
            <a:avLst/>
          </a:prstGeom>
          <a:solidFill>
            <a:srgbClr val="E8944A"/>
          </a:solidFill>
          <a:ln/>
        </p:spPr>
      </p:sp>
      <p:sp>
        <p:nvSpPr>
          <p:cNvPr id="20" name="Text 18"/>
          <p:cNvSpPr/>
          <p:nvPr/>
        </p:nvSpPr>
        <p:spPr>
          <a:xfrm>
            <a:off x="7360920" y="2267712"/>
            <a:ext cx="3931920" cy="777240"/>
          </a:xfrm>
          <a:prstGeom prst="rect">
            <a:avLst/>
          </a:prstGeom>
          <a:noFill/>
          <a:ln/>
        </p:spPr>
        <p:txBody>
          <a:bodyPr wrap="square" lIns="0" tIns="0" rIns="0" bIns="0" rtlCol="0" anchor="ctr"/>
          <a:lstStyle/>
          <a:p>
            <a:pPr indent="0" marL="0">
              <a:lnSpc>
                <a:spcPts val="1600"/>
              </a:lnSpc>
              <a:buNone/>
            </a:pPr>
            <a:r>
              <a:rPr lang="en-US" sz="1250" dirty="0">
                <a:solidFill>
                  <a:srgbClr val="4A5E72"/>
                </a:solidFill>
                <a:latin typeface="Calibri" pitchFamily="34" charset="0"/>
                <a:ea typeface="Calibri" pitchFamily="34" charset="-122"/>
                <a:cs typeface="Calibri" pitchFamily="34" charset="-120"/>
              </a:rPr>
              <a:t>No behavioural data, which is where the remaining signal is.</a:t>
            </a:r>
            <a:endParaRPr lang="en-US" sz="1250" dirty="0"/>
          </a:p>
        </p:txBody>
      </p:sp>
      <p:sp>
        <p:nvSpPr>
          <p:cNvPr id="21" name="Shape 19"/>
          <p:cNvSpPr/>
          <p:nvPr/>
        </p:nvSpPr>
        <p:spPr>
          <a:xfrm>
            <a:off x="7022592" y="3346704"/>
            <a:ext cx="146304" cy="146304"/>
          </a:xfrm>
          <a:prstGeom prst="ellipse">
            <a:avLst/>
          </a:prstGeom>
          <a:solidFill>
            <a:srgbClr val="E8944A"/>
          </a:solidFill>
          <a:ln/>
        </p:spPr>
      </p:sp>
      <p:sp>
        <p:nvSpPr>
          <p:cNvPr id="22" name="Text 20"/>
          <p:cNvSpPr/>
          <p:nvPr/>
        </p:nvSpPr>
        <p:spPr>
          <a:xfrm>
            <a:off x="7360920" y="3200400"/>
            <a:ext cx="3931920" cy="777240"/>
          </a:xfrm>
          <a:prstGeom prst="rect">
            <a:avLst/>
          </a:prstGeom>
          <a:noFill/>
          <a:ln/>
        </p:spPr>
        <p:txBody>
          <a:bodyPr wrap="square" lIns="0" tIns="0" rIns="0" bIns="0" rtlCol="0" anchor="ctr"/>
          <a:lstStyle/>
          <a:p>
            <a:pPr indent="0" marL="0">
              <a:lnSpc>
                <a:spcPts val="1600"/>
              </a:lnSpc>
              <a:buNone/>
            </a:pPr>
            <a:r>
              <a:rPr lang="en-US" sz="1250" dirty="0">
                <a:solidFill>
                  <a:srgbClr val="4A5E72"/>
                </a:solidFill>
                <a:latin typeface="Calibri" pitchFamily="34" charset="0"/>
                <a:ea typeface="Calibri" pitchFamily="34" charset="-122"/>
                <a:cs typeface="Calibri" pitchFamily="34" charset="-120"/>
              </a:rPr>
              <a:t>Breed is a staff guess with 50 percent measured sensitivity.</a:t>
            </a:r>
            <a:endParaRPr lang="en-US" sz="1250" dirty="0"/>
          </a:p>
        </p:txBody>
      </p:sp>
      <p:sp>
        <p:nvSpPr>
          <p:cNvPr id="23" name="Shape 21"/>
          <p:cNvSpPr/>
          <p:nvPr/>
        </p:nvSpPr>
        <p:spPr>
          <a:xfrm>
            <a:off x="7022592" y="4279392"/>
            <a:ext cx="146304" cy="146304"/>
          </a:xfrm>
          <a:prstGeom prst="ellipse">
            <a:avLst/>
          </a:prstGeom>
          <a:solidFill>
            <a:srgbClr val="E8944A"/>
          </a:solidFill>
          <a:ln/>
        </p:spPr>
      </p:sp>
      <p:sp>
        <p:nvSpPr>
          <p:cNvPr id="24" name="Text 22"/>
          <p:cNvSpPr/>
          <p:nvPr/>
        </p:nvSpPr>
        <p:spPr>
          <a:xfrm>
            <a:off x="7360920" y="4133088"/>
            <a:ext cx="3931920" cy="777240"/>
          </a:xfrm>
          <a:prstGeom prst="rect">
            <a:avLst/>
          </a:prstGeom>
          <a:noFill/>
          <a:ln/>
        </p:spPr>
        <p:txBody>
          <a:bodyPr wrap="square" lIns="0" tIns="0" rIns="0" bIns="0" rtlCol="0" anchor="ctr"/>
          <a:lstStyle/>
          <a:p>
            <a:pPr indent="0" marL="0">
              <a:lnSpc>
                <a:spcPts val="1600"/>
              </a:lnSpc>
              <a:buNone/>
            </a:pPr>
            <a:r>
              <a:rPr lang="en-US" sz="1250" dirty="0">
                <a:solidFill>
                  <a:srgbClr val="4A5E72"/>
                </a:solidFill>
                <a:latin typeface="Calibri" pitchFamily="34" charset="0"/>
                <a:ea typeface="Calibri" pitchFamily="34" charset="-122"/>
                <a:cs typeface="Calibri" pitchFamily="34" charset="-120"/>
              </a:rPr>
              <a:t>We can show the queue works. We cannot show that acting on it changes outcomes.</a:t>
            </a:r>
            <a:endParaRPr lang="en-US" sz="1250" dirty="0"/>
          </a:p>
        </p:txBody>
      </p:sp>
      <p:sp>
        <p:nvSpPr>
          <p:cNvPr id="25" name="Shape 23"/>
          <p:cNvSpPr/>
          <p:nvPr/>
        </p:nvSpPr>
        <p:spPr>
          <a:xfrm>
            <a:off x="7022592" y="5166360"/>
            <a:ext cx="4206240" cy="0"/>
          </a:xfrm>
          <a:prstGeom prst="line">
            <a:avLst/>
          </a:prstGeom>
          <a:noFill/>
          <a:ln w="12700">
            <a:solidFill>
              <a:srgbClr val="DCE3E9"/>
            </a:solidFill>
            <a:prstDash val="solid"/>
          </a:ln>
        </p:spPr>
      </p:sp>
      <p:sp>
        <p:nvSpPr>
          <p:cNvPr id="26" name="Text 24"/>
          <p:cNvSpPr/>
          <p:nvPr/>
        </p:nvSpPr>
        <p:spPr>
          <a:xfrm>
            <a:off x="7022592" y="5266944"/>
            <a:ext cx="4206240" cy="274320"/>
          </a:xfrm>
          <a:prstGeom prst="rect">
            <a:avLst/>
          </a:prstGeom>
          <a:noFill/>
          <a:ln/>
        </p:spPr>
        <p:txBody>
          <a:bodyPr wrap="square" lIns="0" tIns="0" rIns="0" bIns="0" rtlCol="0" anchor="ctr"/>
          <a:lstStyle/>
          <a:p>
            <a:pPr indent="0" marL="0">
              <a:buNone/>
            </a:pPr>
            <a:r>
              <a:rPr lang="en-US" sz="1100" i="1" dirty="0">
                <a:solidFill>
                  <a:srgbClr val="8195A8"/>
                </a:solidFill>
                <a:latin typeface="Calibri" pitchFamily="34" charset="0"/>
                <a:ea typeface="Calibri" pitchFamily="34" charset="-122"/>
                <a:cs typeface="Calibri" pitchFamily="34" charset="-120"/>
              </a:rPr>
              <a:t>Next: a photograph-quality signal, a second shelter, and a prospective evaluation.</a:t>
            </a:r>
            <a:endParaRPr lang="en-US" sz="1100" dirty="0"/>
          </a:p>
        </p:txBody>
      </p:sp>
      <p:sp>
        <p:nvSpPr>
          <p:cNvPr id="27" name="Text 25"/>
          <p:cNvSpPr/>
          <p:nvPr/>
        </p:nvSpPr>
        <p:spPr>
          <a:xfrm>
            <a:off x="658368" y="5943600"/>
            <a:ext cx="10881360" cy="365760"/>
          </a:xfrm>
          <a:prstGeom prst="rect">
            <a:avLst/>
          </a:prstGeom>
          <a:noFill/>
          <a:ln/>
        </p:spPr>
        <p:txBody>
          <a:bodyPr wrap="square" lIns="0" tIns="0" rIns="0" bIns="0" rtlCol="0" anchor="ctr"/>
          <a:lstStyle/>
          <a:p>
            <a:pPr algn="ctr" indent="0" marL="0">
              <a:buNone/>
            </a:pPr>
            <a:r>
              <a:rPr lang="en-US" sz="1050" dirty="0">
                <a:solidFill>
                  <a:srgbClr val="8195A8"/>
                </a:solidFill>
                <a:latin typeface="Calibri" pitchFamily="34" charset="0"/>
                <a:ea typeface="Calibri" pitchFamily="34" charset="-122"/>
                <a:cs typeface="Calibri" pitchFamily="34" charset="-120"/>
              </a:rPr>
              <a:t>secondchance  ·  Davis Higgins  ·  every number in this deck is read from results/MEASURED_RESULTS.json at build time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UNC Charlotte, DTSC 3601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SecondChance</dc:title>
  <dc:subject>PptxGenJS Presentation</dc:subject>
  <dc:creator>Davis Higgins</dc:creator>
  <cp:lastModifiedBy>Davis Higgins</cp:lastModifiedBy>
  <cp:revision>1</cp:revision>
  <dcterms:created xsi:type="dcterms:W3CDTF">2026-08-20T19:23:49Z</dcterms:created>
  <dcterms:modified xsi:type="dcterms:W3CDTF">2026-08-20T19:23:49Z</dcterms:modified>
</cp:coreProperties>
</file>